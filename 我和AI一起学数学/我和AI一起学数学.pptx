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3" Type="http://schemas.openxmlformats.org/officeDocument/2006/relationships/slide" Target="slides/slide13.xml" /><Relationship Id="rId10" Type="http://schemas.openxmlformats.org/officeDocument/2006/relationships/slide" Target="slides/slide10.xml" /><Relationship Id="rId15" Type="http://schemas.openxmlformats.org/officeDocument/2006/relationships/slide" Target="slides/slide15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7" Type="http://schemas.openxmlformats.org/officeDocument/2006/relationships/presProps" Target="presProps.xml" /><Relationship Id="rId14" Type="http://schemas.openxmlformats.org/officeDocument/2006/relationships/slide" Target="slides/slide14.xml" /><Relationship Id="rId16" Type="http://schemas.openxmlformats.org/officeDocument/2006/relationships/notesMaster" Target="notesMasters/notesMaster1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9" Type="http://schemas.openxmlformats.org/officeDocument/2006/relationships/slide" Target="slides/slide9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7.pn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2" Type="http://schemas.openxmlformats.org/officeDocument/2006/relationships/image" Target="media/image9.pn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png" /></Relationships>
</file>

<file path=ppt/slides/_rels/slide6.xml.rels><?xml version="1.0" encoding="UTF-8" standalone="yes"?><Relationships xmlns="http://schemas.openxmlformats.org/package/2006/relationships"><Relationship Id="rId2" Type="http://schemas.openxmlformats.org/officeDocument/2006/relationships/image" Target="media/image11.pn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pn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pn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3.pn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pn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Relationship Id="rId2" Type="http://schemas.openxmlformats.org/officeDocument/2006/relationships/image" Target="media/image3.png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5.pn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6.png" /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width: 1280, height: 720, background: '#FFF8F0', padding: 60, position: 'relative', fontFamily: &quot;'Microsoft YaHei', sans-serif&quot; }}&gt;&#10;  {/* 01 封面 · hero：左文右图，渐变大标题 */}&#10;  {/* 背景装饰（不占安全区） */}&#10;  &lt;Box style={{ position: 'absolute', top: -60, right: -60, width: 220, height: 220, borderRadius: 110, background: '#2BB3A3', opacity: 0.12 }} /&gt;&#10;  &lt;Box style={{ position: 'absolute', bottom: -80, left: -40, width: 260, height: 260, borderRadius: 130, background: '#F97316', opacity: 0.10 }} /&gt;&#10;  &lt;Box style={{ position: 'absolute', top: 120, left: 420, width: 36, height: 36, borderRadius: 18, background: '#FFC93C', opacity: 0.6 }} /&gt;&#10;&#10;  &lt;Box style={{ flexDirection: 'row', alignItems: 'center', gap: 56, width: '100%', height: '100%' }}&gt;&#10;    {/* 左：标题区 */}&#10;    &lt;Box style={{ flex: 1, flexDirection: 'column', justifyContent: 'center', gap: 28 }}&gt;&#10;      &lt;Box style={{ alignSelf: 'flex-start', background: '#2BB3A3', borderRadius: 24, padding: '10px 28px' }}&gt;&#10;        &lt;Text style={{ fontSize: 24, fontWeight: 'bold', color: '#FFFFFF' }}&gt;AI 与数学 · 主题演讲&lt;/Text&gt;&#10;      &lt;/Box&gt;&#10;      &lt;Text style={{ fontSize: 78, fontWeight: 'bold', lineHeight: 1.15, backgroundImage: 'linear-gradient(135deg, #F97316 0%, #FFC93C 100%)', backgroundClip: 'text', color: 'transparent' }}&gt;&#10;        我和 AI&lt;br /&gt;一起学数学&#10;      &lt;/Text&gt;&#10;      &lt;Text style={{ fontSize: 27, color: '#33302E', lineHeight: 1.5 }}&gt;&#10;        我在家里怎么用人工智能&lt;br /&gt;帮助我学数学&#10;      &lt;/Text&gt;&#10;    &lt;/Box&gt;&#10;    {/* 右：封面主视觉 */}&#10;    &lt;Box style={{ width: 600 }}&gt;&#10;      &lt;Image src=&quot;assets/hero_cover.png&quot; style={{ width: 600, height: 400, objectFit: 'cover', borderRadius: 28, boxShadow: '0 8px 32px rgba(51,48,46,0.18)' }} /&gt;&#10;      &lt;Text style={{ fontSize: 16, color: '#8A8580', textAlign: 'center', marginTop: 16 }}&gt;这是我和我的 AI 学习小伙伴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571500" y="1438275"/>
            <a:ext cx="2695575" cy="466725"/>
          </a:xfrm>
          <a:prstGeom prst="roundRect">
            <a:avLst>
              <a:gd name="adj" fmla="val 48980"/>
            </a:avLst>
          </a:prstGeom>
          <a:solidFill>
            <a:srgbClr val="2BB3A3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838200" y="1533525"/>
            <a:ext cx="21621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与数学</a:t>
            </a: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主题演讲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571500" y="2171700"/>
            <a:ext cx="4800600" cy="2057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5850" b="1">
                <a:gradFill>
                  <a:gsLst>
                    <a:gs pos="0">
                      <a:srgbClr val="F97316"/>
                    </a:gs>
                    <a:gs pos="100000">
                      <a:srgbClr val="FFC93C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我和</a:t>
            </a:r>
            <a:r>
              <a:rPr lang="en-US" sz="5850" b="1">
                <a:gradFill>
                  <a:gsLst>
                    <a:gs pos="0">
                      <a:srgbClr val="F97316"/>
                    </a:gs>
                    <a:gs pos="100000">
                      <a:srgbClr val="FFC93C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 xml:space="preserve"> AI</a:t>
            </a:r>
            <a:endParaRPr/>
          </a:p>
          <a:p>
            <a:pPr>
              <a:lnSpc>
                <a:spcPct val="114999"/>
              </a:lnSpc>
            </a:pPr>
            <a:r>
              <a:rPr lang="zh-CN" sz="5850" b="1">
                <a:gradFill>
                  <a:gsLst>
                    <a:gs pos="0">
                      <a:srgbClr val="F97316"/>
                    </a:gs>
                    <a:gs pos="100000">
                      <a:srgbClr val="FFC93C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一起学数学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571500" y="4495800"/>
            <a:ext cx="4800600" cy="9334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2025">
                <a:solidFill>
                  <a:srgbClr val="33302E"/>
                </a:solidFill>
                <a:latin typeface="Microsoft YaHei"/>
                <a:ea typeface="Microsoft YaHei"/>
              </a:rPr>
              <a:t>我在家里怎么用人工智能</a:t>
            </a:r>
            <a:endParaRPr/>
          </a:p>
          <a:p>
            <a:pPr>
              <a:lnSpc>
                <a:spcPct val="150000"/>
              </a:lnSpc>
            </a:pPr>
            <a:r>
              <a:rPr lang="zh-CN" sz="2025">
                <a:solidFill>
                  <a:srgbClr val="33302E"/>
                </a:solidFill>
                <a:latin typeface="Microsoft YaHei"/>
                <a:ea typeface="Microsoft YaHei"/>
              </a:rPr>
              <a:t>帮助我学数学</a:t>
            </a:r>
            <a:endParaRPr/>
          </a:p>
        </p:txBody>
      </p:sp>
      <p:pic>
        <p:nvPicPr>
          <p:cNvPr id="7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5905500" y="1352550"/>
            <a:ext cx="5715000" cy="3810000"/>
          </a:xfrm>
          <a:prstGeom prst="roundRect">
            <a:avLst>
              <a:gd name="adj" fmla="val 7000"/>
            </a:avLst>
          </a:prstGeom>
          <a:ln/>
          <a:effectLst>
            <a:outerShdw blurRad="304800" dist="76200" dir="5400000">
              <a:srgbClr val="33302E">
                <a:alpha val="18000"/>
              </a:srgbClr>
            </a:outerShdw>
          </a:effectLst>
        </p:spPr>
      </p:pic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5905500" y="5314950"/>
            <a:ext cx="57150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8A8580"/>
                </a:solidFill>
                <a:latin typeface="Microsoft YaHei"/>
                <a:ea typeface="Microsoft YaHei"/>
              </a:rPr>
              <a:t>这是我和我的</a:t>
            </a:r>
            <a:r>
              <a:rPr lang="en-US" sz="1200">
                <a:solidFill>
                  <a:srgbClr val="8A858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200">
                <a:solidFill>
                  <a:srgbClr val="8A8580"/>
                </a:solidFill>
                <a:latin typeface="Microsoft YaHei"/>
                <a:ea typeface="Microsoft YaHei"/>
              </a:rPr>
              <a:t>学习小伙伴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10668000" y="-571500"/>
            <a:ext cx="2095500" cy="2095500"/>
          </a:xfrm>
          <a:prstGeom prst="roundRect">
            <a:avLst>
              <a:gd name="adj" fmla="val 50000"/>
            </a:avLst>
          </a:prstGeom>
          <a:solidFill>
            <a:srgbClr val="2BB3A3">
              <a:alpha val="12000"/>
            </a:srgbClr>
          </a:solidFill>
          <a:ln/>
        </p:spPr>
        <p:txBody>
          <a:bodyPr/>
          <a:p/>
        </p:txBody>
      </p:sp>
      <p:sp>
        <p:nvSpPr>
          <p:cNvPr id="10" name=""/>
          <p:cNvSpPr/>
          <p:nvPr/>
        </p:nvSpPr>
        <p:spPr>
          <a:xfrm rot="0" flipH="0" flipV="0">
            <a:off x="-381000" y="5143500"/>
            <a:ext cx="2476500" cy="2476500"/>
          </a:xfrm>
          <a:prstGeom prst="roundRect">
            <a:avLst>
              <a:gd name="adj" fmla="val 50000"/>
            </a:avLst>
          </a:prstGeom>
          <a:solidFill>
            <a:srgbClr val="F97316">
              <a:alpha val="10000"/>
            </a:srgbClr>
          </a:soli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4000500" y="11430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FC93C">
              <a:alpha val="60000"/>
            </a:srgbClr>
          </a:solidFill>
          <a:ln/>
        </p:spPr>
        <p:txBody>
          <a:bodyPr/>
          <a:p/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08" name="" descr="&lt;Slide style={{ width: 1280, height: 720, background: '#FFF8F0', fontFamily: &quot;'Microsoft YaHei', sans-serif&quot; }}&gt;&#10;  {/* A 标题块 */}&#10;  &lt;Box style={{ height: 120, paddingHorizontal: 60, paddingTop: 30, flexDirection: 'row', alignItems: 'center', gap: 18 }}&gt;&#10;    &lt;Box style={{ width: 8, height: 56, background: '#F97316', borderRadius: 4 }} /&gt;&#10;    &lt;Text style={{ fontSize: 38, fontWeight: 'bold', color: '#33302E' }}&gt;今天我要讲三件事&lt;/Text&gt;&#10;  &lt;/Box&gt;&#10;  {/* B 内容区 */}&#10;  &lt;Box style={{ height: 540, paddingHorizontal: 60, flexDirection: 'column', justifyContent: 'center', gap: 28 }}&gt;&#10;    &lt;Box style={{ flexDirection: 'row', alignItems: 'center', gap: 28, background: '#FFFFFF', borderRadius: 20, padding: '24px 32px', boxShadow: '0 6px 24px rgba(51,48,46,0.10)' }}&gt;&#10;      &lt;Text style={{ fontSize: 72, fontWeight: 'bold', color: '#FFC93C' }}&gt;1&lt;/Text&gt;&#10;      &lt;Box style={{ flexDirection: 'column', gap: 6 }}&gt;&#10;        &lt;Text style={{ fontSize: 30, fontWeight: 'bold', color: '#33302E' }}&gt;我的&quot;数学游戏宝库&quot;&lt;/Text&gt;&#10;        &lt;Text style={{ fontSize: 24, color: '#6B6660', lineHeight: 1.45 }}&gt;我和爸爸用 AI 做的一整个学习游戏网站&lt;/Text&gt;&#10;      &lt;/Box&gt;&#10;    &lt;/Box&gt;&#10;    &lt;Box style={{ flexDirection: 'row', alignItems: 'center', gap: 28, background: '#FFFFFF', borderRadius: 20, padding: '24px 32px', boxShadow: '0 6px 24px rgba(51,48,46,0.10)' }}&gt;&#10;      &lt;Text style={{ fontSize: 72, fontWeight: 'bold', color: '#2BB3A3' }}&gt;2&lt;/Text&gt;&#10;      &lt;Box style={{ flexDirection: 'column', gap: 6 }}&gt;&#10;        &lt;Text style={{ fontSize: 30, fontWeight: 'bold', color: '#33302E' }}&gt;AI 怎么帮我学数学&lt;/Text&gt;&#10;        &lt;Text style={{ fontSize: 24, color: '#6B6660', lineHeight: 1.45 }}&gt;把概念变成动画、把难题变成游戏、帮我出题讲题&lt;/Text&gt;&#10;      &lt;/Box&gt;&#10;    &lt;/Box&gt;&#10;    &lt;Box style={{ flexDirection: 'row', alignItems: 'center', gap: 28, background: '#FFFFFF', borderRadius: 20, padding: '24px 32px', boxShadow: '0 6px 24px rgba(51,48,46,0.10)' }}&gt;&#10;      &lt;Text style={{ fontSize: 72, fontWeight: 'bold', color: '#F97316' }}&gt;3&lt;/Text&gt;&#10;      &lt;Box style={{ flexDirection: 'column', gap: 6 }}&gt;&#10;        &lt;Text style={{ fontSize: 30, fontWeight: 'bold', color: '#33302E' }}&gt;我的三个秘诀&lt;/Text&gt;&#10;        &lt;Text style={{ fontSize: 24, color: '#6B6660', lineHeight: 1.45 }}&gt;同学们在家里也可以这样用 AI 学习&lt;/Text&gt;&#10;      &lt;/Box&gt;&#10;    &lt;/Box&gt;&#10;  &lt;/Box&gt;&#10;  {/* C 页脚条 */}&#10;  &lt;Box style={{ height: 60, paddingHorizontal: 60, flexDirection: 'row', alignItems: 'center', justifyContent: 'space-between' }}&gt;&#10;    &lt;Text style={{ fontSize: 14, color: '#8A8580' }}&gt;我和 AI 一起学数学&lt;/Text&gt;&#10;    &lt;Text style={{ fontSize: 14, color: '#8A8580' }}&gt;02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p/>
        </p:txBody>
      </p:sp>
      <p:sp>
        <p:nvSpPr>
          <p:cNvPr id="110" name=""/>
          <p:cNvSpPr/>
          <p:nvPr/>
        </p:nvSpPr>
        <p:spPr>
          <a:xfrm rot="0" flipH="0" flipV="0">
            <a:off x="0" y="447675"/>
            <a:ext cx="76200" cy="5334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247650" y="495300"/>
            <a:ext cx="28956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33302E"/>
                </a:solidFill>
                <a:latin typeface="Microsoft YaHei"/>
                <a:ea typeface="Microsoft YaHei"/>
              </a:rPr>
              <a:t>今天我要讲三件事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0" y="1524000"/>
            <a:ext cx="12192000" cy="128587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33302E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304800" y="1752600"/>
            <a:ext cx="42862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FFC93C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000125" y="1771650"/>
            <a:ext cx="40290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33302E"/>
                </a:solidFill>
                <a:latin typeface="Microsoft YaHei"/>
                <a:ea typeface="Microsoft YaHei"/>
              </a:rPr>
              <a:t>我的</a:t>
            </a:r>
            <a:r>
              <a:rPr lang="en-US" sz="2250" b="1">
                <a:solidFill>
                  <a:srgbClr val="33302E"/>
                </a:solidFill>
                <a:latin typeface="Microsoft YaHei"/>
                <a:ea typeface="Microsoft YaHei"/>
              </a:rPr>
              <a:t>"</a:t>
            </a:r>
            <a:r>
              <a:rPr lang="zh-CN" sz="2250" b="1">
                <a:solidFill>
                  <a:srgbClr val="33302E"/>
                </a:solidFill>
                <a:latin typeface="Microsoft YaHei"/>
                <a:ea typeface="Microsoft YaHei"/>
              </a:rPr>
              <a:t>数学游戏宝库</a:t>
            </a:r>
            <a:r>
              <a:rPr lang="en-US" sz="2250" b="1">
                <a:solidFill>
                  <a:srgbClr val="33302E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000125" y="2171700"/>
            <a:ext cx="4029075" cy="4000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>
                <a:solidFill>
                  <a:srgbClr val="6B6660"/>
                </a:solidFill>
                <a:latin typeface="Microsoft YaHei"/>
                <a:ea typeface="Microsoft YaHei"/>
              </a:rPr>
              <a:t>我和爸爸用</a:t>
            </a:r>
            <a:r>
              <a:rPr lang="en-US" sz="1800">
                <a:solidFill>
                  <a:srgbClr val="6B666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800">
                <a:solidFill>
                  <a:srgbClr val="6B6660"/>
                </a:solidFill>
                <a:latin typeface="Microsoft YaHei"/>
                <a:ea typeface="Microsoft YaHei"/>
              </a:rPr>
              <a:t>做的一整个学习游戏网站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0" y="3076575"/>
            <a:ext cx="12192000" cy="128587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33302E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304800" y="3305175"/>
            <a:ext cx="42862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2BB3A3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000125" y="3324225"/>
            <a:ext cx="50292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33302E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2250" b="1">
                <a:solidFill>
                  <a:srgbClr val="33302E"/>
                </a:solidFill>
                <a:latin typeface="Microsoft YaHei"/>
                <a:ea typeface="Microsoft YaHei"/>
              </a:rPr>
              <a:t>怎么帮我学数学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000125" y="3724275"/>
            <a:ext cx="5029200" cy="4000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>
                <a:solidFill>
                  <a:srgbClr val="6B6660"/>
                </a:solidFill>
                <a:latin typeface="Microsoft YaHei"/>
                <a:ea typeface="Microsoft YaHei"/>
              </a:rPr>
              <a:t>把概念变成动画、把难题变成游戏、帮我出题讲题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0" y="4629150"/>
            <a:ext cx="12192000" cy="128587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33302E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304800" y="4857750"/>
            <a:ext cx="42862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F97316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000125" y="4876800"/>
            <a:ext cx="35718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33302E"/>
                </a:solidFill>
                <a:latin typeface="Microsoft YaHei"/>
                <a:ea typeface="Microsoft YaHei"/>
              </a:rPr>
              <a:t>我的三个秘诀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000125" y="5276850"/>
            <a:ext cx="3571875" cy="4000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>
                <a:solidFill>
                  <a:srgbClr val="6B6660"/>
                </a:solidFill>
                <a:latin typeface="Microsoft YaHei"/>
                <a:ea typeface="Microsoft YaHei"/>
              </a:rPr>
              <a:t>同学们在家里也可以这样用</a:t>
            </a:r>
            <a:r>
              <a:rPr lang="en-US" sz="1800">
                <a:solidFill>
                  <a:srgbClr val="6B666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800">
                <a:solidFill>
                  <a:srgbClr val="6B6660"/>
                </a:solidFill>
                <a:latin typeface="Microsoft YaHei"/>
                <a:ea typeface="Microsoft YaHei"/>
              </a:rPr>
              <a:t>学习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0" y="649605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580"/>
                </a:solidFill>
                <a:latin typeface="Microsoft YaHei"/>
                <a:ea typeface="Microsoft YaHei"/>
              </a:rPr>
              <a:t>我和</a:t>
            </a:r>
            <a:r>
              <a:rPr lang="en-US" sz="1050">
                <a:solidFill>
                  <a:srgbClr val="8A858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A8580"/>
                </a:solidFill>
                <a:latin typeface="Microsoft YaHei"/>
                <a:ea typeface="Microsoft YaHei"/>
              </a:rPr>
              <a:t>一起学数学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17348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580"/>
                </a:solidFill>
                <a:latin typeface="Microsoft YaHei"/>
                <a:ea typeface="Microsoft YaHei"/>
              </a:rPr>
              <a:t>02 / 15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26" name="" descr="&lt;Slide style={{ width: 1280, height: 720, background: '#FFF8F0', fontFamily: &quot;'Microsoft YaHei', sans-serif&quot; }}&gt;&#10;  {/* A 标题块 */}&#10;  &lt;Box style={{ height: 120, paddingHorizontal: 60, paddingTop: 30, flexDirection: 'row', alignItems: 'center', gap: 18 }}&gt;&#10;    &lt;Box style={{ width: 8, height: 56, background: '#F97316', borderRadius: 4 }} /&gt;&#10;    &lt;Text style={{ fontSize: 38, fontWeight: 'bold', color: '#33302E' }}&gt;我的&quot;数学游戏宝库&quot;&lt;/Text&gt;&#10;  &lt;/Box&gt;&#10;  {/* B 内容区 */}&#10;  &lt;Box style={{ height: 540, paddingHorizontal: 60, flexDirection: 'row', gap: 24 }}&gt;&#10;    &lt;Box style={{ width: 620, flexDirection: 'column', justifyContent: 'center' }}&gt;&#10;      &lt;Image src=&quot;assets/home.png&quot; style={{ width: 620, height: 388, objectFit: 'cover', borderRadius: 20, boxShadow: '0 6px 24px rgba(51,48,46,0.15)' }} /&gt;&#10;      &lt;Text style={{ fontSize: 16, color: '#8A8580', textAlign: 'center', marginTop: 12 }}&gt;AI 帮我们生成的数学游戏网站主页&lt;/Text&gt;&#10;    &lt;/Box&gt;&#10;    &lt;Box style={{ flex: 1, flexDirection: 'column', justifyContent: 'center', gap: 18 }}&gt;&#10;      &lt;Text style={{ fontSize: 24, color: '#33302E', lineHeight: 1.55 }}&gt;&#10;        爸爸和我用 AI 做了一个数学游戏网站，里面的每一个小游戏都是 &lt;span style={{ fontWeight: 'bold', color: '#F97316' }}&gt;AI 帮忙生成的&lt;/span&gt;，一共有四类：&#10;      &lt;/Text&gt;&#10;      &lt;Box style={{ flexDirection: 'row', gap: 14 }}&gt;&#10;        &lt;Box style={{ flex: 1, background: 'rgba(43,179,163,0.10)', borderRadius: 16, padding: 18, height: 170, flexDirection: 'column', justifyContent: 'space-between' }}&gt;&#10;          &lt;Box style={{ width: 16, height: 16, borderRadius: 8, background: '#F97316' }} /&gt;&#10;          &lt;Box style={{ flexDirection: 'column', gap: 6 }}&gt;&#10;            &lt;Text style={{ fontSize: 24, fontWeight: 'bold', color: '#33302E' }}&gt;数学概念动画&lt;/Text&gt;&#10;            &lt;Text style={{ fontSize: 19, color: '#6B6660', lineHeight: 1.4 }}&gt;切披萨学微积分&lt;br /&gt;拨时钟学同余&lt;/Text&gt;&#10;          &lt;/Box&gt;&#10;        &lt;/Box&gt;&#10;        &lt;Box style={{ flex: 1, background: 'rgba(249,115,22,0.10)', borderRadius: 16, padding: 18, height: 170, flexDirection: 'column', justifyContent: 'space-between' }}&gt;&#10;          &lt;Box style={{ width: 16, height: 16, borderRadius: 8, background: '#2BB3A3' }} /&gt;&#10;          &lt;Box style={{ flexDirection: 'column', gap: 6 }}&gt;&#10;            &lt;Text style={{ fontSize: 24, fontWeight: 'bold', color: '#33302E' }}&gt;奥数思维谜题&lt;/Text&gt;&#10;            &lt;Text style={{ fontSize: 19, color: '#6B6660', lineHeight: 1.4 }}&gt;青蛙跳跃&lt;br /&gt;齿轮谜题、棋子谜题&lt;/Text&gt;&#10;          &lt;/Box&gt;&#10;        &lt;/Box&gt;&#10;      &lt;/Box&gt;&#10;      &lt;Box style={{ flexDirection: 'row', gap: 14 }}&gt;&#10;        &lt;Box style={{ flex: 1, background: 'rgba(255,201,60,0.14)', borderRadius: 16, padding: 18, height: 170, flexDirection: 'column', justifyContent: 'space-between' }}&gt;&#10;          &lt;Box style={{ width: 16, height: 16, borderRadius: 8, background: '#F97316' }} /&gt;&#10;          &lt;Box style={{ flexDirection: 'column', gap: 6 }}&gt;&#10;            &lt;Text style={{ fontSize: 24, fontWeight: 'bold', color: '#33302E' }}&gt;棋盘策略游戏&lt;/Text&gt;&#10;            &lt;Text style={{ fontSize: 19, color: '#6B6660', lineHeight: 1.4 }}&gt;骰战棋、滑冰棋&lt;br /&gt;和电脑真刀真枪下&lt;/Text&gt;&#10;          &lt;/Box&gt;&#10;        &lt;/Box&gt;&#10;        &lt;Box style={{ flex: 1, background: 'rgba(43,179,163,0.10)', borderRadius: 16, padding: 18, height: 170, flexDirection: 'column', justifyContent: 'space-between' }}&gt;&#10;          &lt;Box style={{ width: 16, height: 16, borderRadius: 8, background: '#2BB3A3' }} /&gt;&#10;          &lt;Box style={{ flexDirection: 'column', gap: 6 }}&gt;&#10;            &lt;Text style={{ fontSize: 24, fontWeight: 'bold', color: '#33302E' }}&gt;生活中的数学&lt;/Text&gt;&#10;            &lt;Text style={{ fontSize: 19, color: '#6B6660', lineHeight: 1.4 }}&gt;烙饼怎么排最省时间&lt;br /&gt;机车怎么排最听话&lt;/Text&gt;&#10;          &lt;/Box&gt;&#10;        &lt;/Box&gt;&#10;      &lt;/Box&gt;&#10;    &lt;/Box&gt;&#10;  &lt;/Box&gt;&#10;  {/* C 页脚条 */}&#10;  &lt;Box style={{ height: 60, paddingHorizontal: 60, flexDirection: 'row', alignItems: 'center', justifyContent: 'space-between' }}&gt;&#10;    &lt;Text style={{ fontSize: 14, color: '#8A8580' }}&gt;我和 AI 一起学数学&lt;/Text&gt;&#10;    &lt;Text style={{ fontSize: 14, color: '#8A8580' }}&gt;03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p/>
        </p:txBody>
      </p:sp>
      <p:sp>
        <p:nvSpPr>
          <p:cNvPr id="128" name=""/>
          <p:cNvSpPr/>
          <p:nvPr/>
        </p:nvSpPr>
        <p:spPr>
          <a:xfrm rot="0" flipH="0" flipV="0">
            <a:off x="0" y="447675"/>
            <a:ext cx="76200" cy="5334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247650" y="495300"/>
            <a:ext cx="32766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33302E"/>
                </a:solidFill>
                <a:latin typeface="Microsoft YaHei"/>
                <a:ea typeface="Microsoft YaHei"/>
              </a:rPr>
              <a:t>我的</a:t>
            </a:r>
            <a:r>
              <a:rPr lang="en-US" sz="2850" b="1">
                <a:solidFill>
                  <a:srgbClr val="33302E"/>
                </a:solidFill>
                <a:latin typeface="Microsoft YaHei"/>
                <a:ea typeface="Microsoft YaHei"/>
              </a:rPr>
              <a:t>"</a:t>
            </a:r>
            <a:r>
              <a:rPr lang="zh-CN" sz="2850" b="1">
                <a:solidFill>
                  <a:srgbClr val="33302E"/>
                </a:solidFill>
                <a:latin typeface="Microsoft YaHei"/>
                <a:ea typeface="Microsoft YaHei"/>
              </a:rPr>
              <a:t>数学游戏宝库</a:t>
            </a:r>
            <a:r>
              <a:rPr lang="en-US" sz="2850" b="1">
                <a:solidFill>
                  <a:srgbClr val="33302E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pic>
        <p:nvPicPr>
          <p:cNvPr id="130" name=""/>
          <p:cNvPicPr>
            <a:picLocks noChangeAspect="1"/>
          </p:cNvPicPr>
          <p:nvPr/>
        </p:nvPicPr>
        <p:blipFill>
          <a:blip r:embed="rId1"/>
          <a:srcRect l="64" t="0" r="64" b="0"/>
          <a:stretch>
            <a:fillRect/>
          </a:stretch>
        </p:blipFill>
        <p:spPr>
          <a:xfrm rot="0" flipH="0" flipV="0">
            <a:off x="0" y="1714500"/>
            <a:ext cx="5905500" cy="3695700"/>
          </a:xfrm>
          <a:prstGeom prst="roundRect">
            <a:avLst>
              <a:gd name="adj" fmla="val 5155"/>
            </a:avLst>
          </a:prstGeom>
          <a:ln/>
          <a:effectLst>
            <a:outerShdw blurRad="228600" dist="57150" dir="5400000">
              <a:srgbClr val="33302E">
                <a:alpha val="15000"/>
              </a:srgbClr>
            </a:outerShdw>
          </a:effectLst>
        </p:spPr>
      </p:pic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0" y="5524500"/>
            <a:ext cx="59055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8A858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00">
                <a:solidFill>
                  <a:srgbClr val="8A8580"/>
                </a:solidFill>
                <a:latin typeface="Microsoft YaHei"/>
                <a:ea typeface="Microsoft YaHei"/>
              </a:rPr>
              <a:t>帮我们生成的数学游戏网站主页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134100" y="1495425"/>
            <a:ext cx="60579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800">
                <a:solidFill>
                  <a:srgbClr val="33302E"/>
                </a:solidFill>
                <a:latin typeface="Microsoft YaHei"/>
                <a:ea typeface="Microsoft YaHei"/>
              </a:rPr>
              <a:t>爸爸和我用</a:t>
            </a:r>
            <a:r>
              <a:rPr lang="en-US" sz="1800">
                <a:solidFill>
                  <a:srgbClr val="33302E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800">
                <a:solidFill>
                  <a:srgbClr val="33302E"/>
                </a:solidFill>
                <a:latin typeface="Microsoft YaHei"/>
                <a:ea typeface="Microsoft YaHei"/>
              </a:rPr>
              <a:t>做了一个数学游戏网站，里面的每一个小游戏都是</a:t>
            </a:r>
            <a:r>
              <a:rPr lang="en-US" sz="1800">
                <a:solidFill>
                  <a:srgbClr val="33302E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800" b="1">
                <a:solidFill>
                  <a:srgbClr val="F97316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800" b="1">
                <a:solidFill>
                  <a:srgbClr val="F97316"/>
                </a:solidFill>
                <a:latin typeface="Microsoft YaHei"/>
                <a:ea typeface="Microsoft YaHei"/>
              </a:rPr>
              <a:t>帮忙生成的</a:t>
            </a:r>
            <a:r>
              <a:rPr lang="zh-CN" sz="1800">
                <a:solidFill>
                  <a:srgbClr val="33302E"/>
                </a:solidFill>
                <a:latin typeface="Microsoft YaHei"/>
                <a:ea typeface="Microsoft YaHei"/>
              </a:rPr>
              <a:t>，一共有四类：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6134100" y="2524125"/>
            <a:ext cx="2962275" cy="1619250"/>
          </a:xfrm>
          <a:prstGeom prst="roundRect">
            <a:avLst>
              <a:gd name="adj" fmla="val 9412"/>
            </a:avLst>
          </a:prstGeom>
          <a:solidFill>
            <a:srgbClr val="2BB3A3">
              <a:alpha val="10000"/>
            </a:srgbClr>
          </a:solidFill>
          <a:ln/>
        </p:spPr>
        <p:txBody>
          <a:bodyPr/>
          <a:p/>
        </p:txBody>
      </p:sp>
      <p:sp>
        <p:nvSpPr>
          <p:cNvPr id="134" name=""/>
          <p:cNvSpPr/>
          <p:nvPr/>
        </p:nvSpPr>
        <p:spPr>
          <a:xfrm rot="0" flipH="0" flipV="0">
            <a:off x="6305550" y="26955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305550" y="3028950"/>
            <a:ext cx="26193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33302E"/>
                </a:solidFill>
                <a:latin typeface="Microsoft YaHei"/>
                <a:ea typeface="Microsoft YaHei"/>
              </a:rPr>
              <a:t>数学概念动画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305550" y="3362325"/>
            <a:ext cx="2619375" cy="609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>
                <a:solidFill>
                  <a:srgbClr val="6B6660"/>
                </a:solidFill>
                <a:latin typeface="Microsoft YaHei"/>
                <a:ea typeface="Microsoft YaHei"/>
              </a:rPr>
              <a:t>切披萨学微积分</a:t>
            </a:r>
            <a:endParaRPr/>
          </a:p>
          <a:p>
            <a:pPr>
              <a:lnSpc>
                <a:spcPct val="140000"/>
              </a:lnSpc>
            </a:pPr>
            <a:r>
              <a:rPr lang="zh-CN" sz="1425">
                <a:solidFill>
                  <a:srgbClr val="6B6660"/>
                </a:solidFill>
                <a:latin typeface="Microsoft YaHei"/>
                <a:ea typeface="Microsoft YaHei"/>
              </a:rPr>
              <a:t>拨时钟学同余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9229725" y="2524125"/>
            <a:ext cx="2962275" cy="1619250"/>
          </a:xfrm>
          <a:prstGeom prst="roundRect">
            <a:avLst>
              <a:gd name="adj" fmla="val 9412"/>
            </a:avLst>
          </a:prstGeom>
          <a:solidFill>
            <a:srgbClr val="F97316">
              <a:alpha val="10000"/>
            </a:srgbClr>
          </a:solidFill>
          <a:ln/>
        </p:spPr>
        <p:txBody>
          <a:bodyPr/>
          <a:p/>
        </p:txBody>
      </p:sp>
      <p:sp>
        <p:nvSpPr>
          <p:cNvPr id="138" name=""/>
          <p:cNvSpPr/>
          <p:nvPr/>
        </p:nvSpPr>
        <p:spPr>
          <a:xfrm rot="0" flipH="0" flipV="0">
            <a:off x="9401175" y="26955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2BB3A3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9401175" y="3028950"/>
            <a:ext cx="26193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33302E"/>
                </a:solidFill>
                <a:latin typeface="Microsoft YaHei"/>
                <a:ea typeface="Microsoft YaHei"/>
              </a:rPr>
              <a:t>奥数思维谜题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9401175" y="3362325"/>
            <a:ext cx="2619375" cy="609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>
                <a:solidFill>
                  <a:srgbClr val="6B6660"/>
                </a:solidFill>
                <a:latin typeface="Microsoft YaHei"/>
                <a:ea typeface="Microsoft YaHei"/>
              </a:rPr>
              <a:t>青蛙跳跃</a:t>
            </a:r>
            <a:endParaRPr/>
          </a:p>
          <a:p>
            <a:pPr>
              <a:lnSpc>
                <a:spcPct val="140000"/>
              </a:lnSpc>
            </a:pPr>
            <a:r>
              <a:rPr lang="zh-CN" sz="1425">
                <a:solidFill>
                  <a:srgbClr val="6B6660"/>
                </a:solidFill>
                <a:latin typeface="Microsoft YaHei"/>
                <a:ea typeface="Microsoft YaHei"/>
              </a:rPr>
              <a:t>齿轮谜题、棋子谜题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6134100" y="4314825"/>
            <a:ext cx="2962275" cy="1619250"/>
          </a:xfrm>
          <a:prstGeom prst="roundRect">
            <a:avLst>
              <a:gd name="adj" fmla="val 9412"/>
            </a:avLst>
          </a:prstGeom>
          <a:solidFill>
            <a:srgbClr val="FFC93C">
              <a:alpha val="14000"/>
            </a:srgbClr>
          </a:solidFill>
          <a:ln/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6305550" y="44862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305550" y="4819650"/>
            <a:ext cx="26193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33302E"/>
                </a:solidFill>
                <a:latin typeface="Microsoft YaHei"/>
                <a:ea typeface="Microsoft YaHei"/>
              </a:rPr>
              <a:t>棋盘策略游戏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305550" y="5153025"/>
            <a:ext cx="2619375" cy="609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>
                <a:solidFill>
                  <a:srgbClr val="6B6660"/>
                </a:solidFill>
                <a:latin typeface="Microsoft YaHei"/>
                <a:ea typeface="Microsoft YaHei"/>
              </a:rPr>
              <a:t>骰战棋、滑冰棋</a:t>
            </a:r>
            <a:endParaRPr/>
          </a:p>
          <a:p>
            <a:pPr>
              <a:lnSpc>
                <a:spcPct val="140000"/>
              </a:lnSpc>
            </a:pPr>
            <a:r>
              <a:rPr lang="zh-CN" sz="1425">
                <a:solidFill>
                  <a:srgbClr val="6B6660"/>
                </a:solidFill>
                <a:latin typeface="Microsoft YaHei"/>
                <a:ea typeface="Microsoft YaHei"/>
              </a:rPr>
              <a:t>和电脑真刀真枪下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9229725" y="4314825"/>
            <a:ext cx="2962275" cy="1619250"/>
          </a:xfrm>
          <a:prstGeom prst="roundRect">
            <a:avLst>
              <a:gd name="adj" fmla="val 9412"/>
            </a:avLst>
          </a:prstGeom>
          <a:solidFill>
            <a:srgbClr val="2BB3A3">
              <a:alpha val="10000"/>
            </a:srgbClr>
          </a:solidFill>
          <a:ln/>
        </p:spPr>
        <p:txBody>
          <a:bodyPr/>
          <a:p/>
        </p:txBody>
      </p:sp>
      <p:sp>
        <p:nvSpPr>
          <p:cNvPr id="146" name=""/>
          <p:cNvSpPr/>
          <p:nvPr/>
        </p:nvSpPr>
        <p:spPr>
          <a:xfrm rot="0" flipH="0" flipV="0">
            <a:off x="9401175" y="44862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2BB3A3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9401175" y="4819650"/>
            <a:ext cx="26193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33302E"/>
                </a:solidFill>
                <a:latin typeface="Microsoft YaHei"/>
                <a:ea typeface="Microsoft YaHei"/>
              </a:rPr>
              <a:t>生活中的数学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9401175" y="5153025"/>
            <a:ext cx="2619375" cy="609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>
                <a:solidFill>
                  <a:srgbClr val="6B6660"/>
                </a:solidFill>
                <a:latin typeface="Microsoft YaHei"/>
                <a:ea typeface="Microsoft YaHei"/>
              </a:rPr>
              <a:t>烙饼怎么排最省时间</a:t>
            </a:r>
            <a:endParaRPr/>
          </a:p>
          <a:p>
            <a:pPr>
              <a:lnSpc>
                <a:spcPct val="140000"/>
              </a:lnSpc>
            </a:pPr>
            <a:r>
              <a:rPr lang="zh-CN" sz="1425">
                <a:solidFill>
                  <a:srgbClr val="6B6660"/>
                </a:solidFill>
                <a:latin typeface="Microsoft YaHei"/>
                <a:ea typeface="Microsoft YaHei"/>
              </a:rPr>
              <a:t>机车怎么排最听话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0" y="649605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580"/>
                </a:solidFill>
                <a:latin typeface="Microsoft YaHei"/>
                <a:ea typeface="Microsoft YaHei"/>
              </a:rPr>
              <a:t>我和</a:t>
            </a:r>
            <a:r>
              <a:rPr lang="en-US" sz="1050">
                <a:solidFill>
                  <a:srgbClr val="8A858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A8580"/>
                </a:solidFill>
                <a:latin typeface="Microsoft YaHei"/>
                <a:ea typeface="Microsoft YaHei"/>
              </a:rPr>
              <a:t>一起学数学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17348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580"/>
                </a:solidFill>
                <a:latin typeface="Microsoft YaHei"/>
                <a:ea typeface="Microsoft YaHei"/>
              </a:rPr>
              <a:t>03 / 15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51" name="" descr="&lt;Slide style={{ width: 1280, height: 720, background: '#FFF8F0', fontFamily: &quot;'Microsoft YaHei', sans-serif&quot; }}&gt;&#10;  {/* A 标题块 */}&#10;  &lt;Box style={{ height: 120, paddingHorizontal: 60, paddingTop: 30, flexDirection: 'row', alignItems: 'center', gap: 18 }}&gt;&#10;    &lt;Box style={{ width: 8, height: 56, background: '#F97316', borderRadius: 4 }} /&gt;&#10;    &lt;Text style={{ fontSize: 38, fontWeight: 'bold', color: '#33302E' }}&gt;这些游戏是怎么诞生的？&lt;/Text&gt;&#10;  &lt;/Box&gt;&#10;  {/* B 内容区 */}&#10;  &lt;Box style={{ height: 540, paddingHorizontal: 60, flexDirection: 'column', justifyContent: 'center', gap: 20 }}&gt;&#10;    &lt;Text style={{ fontSize: 26, color: '#33302E', lineHeight: 1.55, textAlign: 'center' }}&gt;&#10;      很多同学问我：这么多游戏是买来的吗？&lt;span style={{ fontWeight: 'bold', color: '#F97316' }}&gt;不是！是我们和 AI 一起&quot;变&quot;出来的&lt;/span&gt;——&#10;    &lt;/Text&gt;&#10;    &lt;Box style={{ flexDirection: 'row', gap: 24, alignItems: 'center' }}&gt;&#10;      &lt;Box style={{ flex: 1, height: 330, background: 'rgba(43,179,163,0.10)', borderRadius: 20, padding: 28, flexDirection: 'column', justifyContent: 'space-between' }}&gt;&#10;        &lt;Text style={{ fontSize: 88, fontWeight: 'bold', color: '#2BB3A3', textAlign: 'center' }}&gt;1&lt;/Text&gt;&#10;        &lt;Box style={{ flexDirection: 'column', gap: 10 }}&gt;&#10;          &lt;Text style={{ fontSize: 30, fontWeight: 'bold', color: '#33302E', textAlign: 'center' }}&gt;我出主意&lt;/Text&gt;&#10;          &lt;Text style={{ fontSize: 23, color: '#6B6660', lineHeight: 1.5, textAlign: 'center' }}&gt;&quot;我想切披萨学微积分！&quot;&lt;br /&gt;&quot;青蛙换位置能不能做成游戏？&quot;&lt;/Text&gt;&#10;        &lt;/Box&gt;&#10;      &lt;/Box&gt;&#10;      &lt;Text style={{ fontSize: 52, fontWeight: 'bold', color: '#F97316' }}&gt;→&lt;/Text&gt;&#10;      &lt;Box style={{ flex: 1, height: 330, background: 'rgba(249,115,22,0.10)', borderRadius: 20, padding: 28, flexDirection: 'column', justifyContent: 'space-between' }}&gt;&#10;        &lt;Text style={{ fontSize: 88, fontWeight: 'bold', color: '#F97316', textAlign: 'center' }}&gt;2&lt;/Text&gt;&#10;        &lt;Box style={{ flexDirection: 'column', gap: 10 }}&gt;&#10;          &lt;Text style={{ fontSize: 30, fontWeight: 'bold', color: '#33302E', textAlign: 'center' }}&gt;AI 写程序&lt;/Text&gt;&#10;          &lt;Text style={{ fontSize: 23, color: '#6B6660', lineHeight: 1.5, textAlign: 'center' }}&gt;AI 几分钟就写出游戏代码，&lt;br /&gt;还会画动画、算答案&lt;/Text&gt;&#10;        &lt;/Box&gt;&#10;      &lt;/Box&gt;&#10;      &lt;Text style={{ fontSize: 52, fontWeight: 'bold', color: '#F97316' }}&gt;→&lt;/Text&gt;&#10;      &lt;Box style={{ flex: 1, height: 330, background: 'rgba(255,201,60,0.16)', borderRadius: 20, padding: 28, flexDirection: 'column', justifyContent: 'space-between' }}&gt;&#10;        &lt;Text style={{ fontSize: 88, fontWeight: 'bold', color: '#FFC93C', textAlign: 'center' }}&gt;3&lt;/Text&gt;&#10;        &lt;Box style={{ flexDirection: 'column', gap: 10 }}&gt;&#10;          &lt;Text style={{ fontSize: 30, fontWeight: 'bold', color: '#33302E', textAlign: 'center' }}&gt;试玩再修改&lt;/Text&gt;&#10;          &lt;Text style={{ fontSize: 23, color: '#6B6660', lineHeight: 1.5, textAlign: 'center' }}&gt;我试玩后提意见：&lt;br /&gt;&quot;字太小！&quot;&quot;提示再多一点！&quot;&lt;/Text&gt;&#10;        &lt;/Box&gt;&#10;      &lt;/Box&gt;&#10;    &lt;/Box&gt;&#10;  &lt;/Box&gt;&#10;  {/* C 页脚条 */}&#10;  &lt;Box style={{ height: 60, paddingHorizontal: 60, flexDirection: 'row', alignItems: 'center', justifyContent: 'space-between' }}&gt;&#10;    &lt;Text style={{ fontSize: 14, color: '#8A8580' }}&gt;我和 AI 一起学数学&lt;/Text&gt;&#10;    &lt;Text style={{ fontSize: 14, color: '#8A8580' }}&gt;04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p/>
        </p:txBody>
      </p:sp>
      <p:sp>
        <p:nvSpPr>
          <p:cNvPr id="153" name=""/>
          <p:cNvSpPr/>
          <p:nvPr/>
        </p:nvSpPr>
        <p:spPr>
          <a:xfrm rot="0" flipH="0" flipV="0">
            <a:off x="0" y="447675"/>
            <a:ext cx="76200" cy="5334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247650" y="495300"/>
            <a:ext cx="398145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33302E"/>
                </a:solidFill>
                <a:latin typeface="Microsoft YaHei"/>
                <a:ea typeface="Microsoft YaHei"/>
              </a:rPr>
              <a:t>这些游戏是怎么诞生的？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0" y="1819275"/>
            <a:ext cx="12192000" cy="466725"/>
          </a:xfrm>
          <a:prstGeom prst="rect"/>
        </p:spPr>
        <p:txBody>
          <a:bodyPr wrap="none" lIns="0" tIns="0" rIns="0" bIns="0"/>
          <a:p>
            <a:pPr algn="ctr">
              <a:lnSpc>
                <a:spcPct val="155000"/>
              </a:lnSpc>
            </a:pPr>
            <a:r>
              <a:rPr lang="zh-CN" sz="1950">
                <a:solidFill>
                  <a:srgbClr val="33302E"/>
                </a:solidFill>
                <a:latin typeface="Microsoft YaHei"/>
                <a:ea typeface="Microsoft YaHei"/>
              </a:rPr>
              <a:t>很多同学问我：这么多游戏是买来的吗？</a:t>
            </a:r>
            <a:r>
              <a:rPr lang="zh-CN" sz="1950" b="1">
                <a:solidFill>
                  <a:srgbClr val="F97316"/>
                </a:solidFill>
                <a:latin typeface="Microsoft YaHei"/>
                <a:ea typeface="Microsoft YaHei"/>
              </a:rPr>
              <a:t>不是！是我们和</a:t>
            </a:r>
            <a:r>
              <a:rPr lang="en-US" sz="1950" b="1">
                <a:solidFill>
                  <a:srgbClr val="F97316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950" b="1">
                <a:solidFill>
                  <a:srgbClr val="F97316"/>
                </a:solidFill>
                <a:latin typeface="Microsoft YaHei"/>
                <a:ea typeface="Microsoft YaHei"/>
              </a:rPr>
              <a:t>一起</a:t>
            </a:r>
            <a:r>
              <a:rPr lang="en-US" sz="1950" b="1">
                <a:solidFill>
                  <a:srgbClr val="F97316"/>
                </a:solidFill>
                <a:latin typeface="Microsoft YaHei"/>
                <a:ea typeface="Microsoft YaHei"/>
              </a:rPr>
              <a:t>"</a:t>
            </a:r>
            <a:r>
              <a:rPr lang="zh-CN" sz="1950" b="1">
                <a:solidFill>
                  <a:srgbClr val="F97316"/>
                </a:solidFill>
                <a:latin typeface="Microsoft YaHei"/>
                <a:ea typeface="Microsoft YaHei"/>
              </a:rPr>
              <a:t>变</a:t>
            </a:r>
            <a:r>
              <a:rPr lang="en-US" sz="1950" b="1">
                <a:solidFill>
                  <a:srgbClr val="F97316"/>
                </a:solidFill>
                <a:latin typeface="Microsoft YaHei"/>
                <a:ea typeface="Microsoft YaHei"/>
              </a:rPr>
              <a:t>"</a:t>
            </a:r>
            <a:r>
              <a:rPr lang="zh-CN" sz="1950" b="1">
                <a:solidFill>
                  <a:srgbClr val="F97316"/>
                </a:solidFill>
                <a:latin typeface="Microsoft YaHei"/>
                <a:ea typeface="Microsoft YaHei"/>
              </a:rPr>
              <a:t>出来的</a:t>
            </a:r>
            <a:r>
              <a:rPr sz="1950">
                <a:solidFill>
                  <a:srgbClr val="33302E"/>
                </a:solidFill>
                <a:latin typeface="Microsoft YaHei"/>
                <a:ea typeface="Microsoft YaHei"/>
              </a:rPr>
              <a:t>——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0" y="2476500"/>
            <a:ext cx="3429000" cy="3143250"/>
          </a:xfrm>
          <a:prstGeom prst="roundRect">
            <a:avLst>
              <a:gd name="adj" fmla="val 6061"/>
            </a:avLst>
          </a:prstGeom>
          <a:solidFill>
            <a:srgbClr val="2BB3A3">
              <a:alpha val="10000"/>
            </a:srgbClr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266700" y="2743200"/>
            <a:ext cx="2895600" cy="10096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6600" b="1">
                <a:solidFill>
                  <a:srgbClr val="2BB3A3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266700" y="3752850"/>
            <a:ext cx="2895600" cy="3429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2250" b="1">
                <a:solidFill>
                  <a:srgbClr val="33302E"/>
                </a:solidFill>
                <a:latin typeface="Microsoft YaHei"/>
                <a:ea typeface="Microsoft YaHei"/>
              </a:rPr>
              <a:t>我出主意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266700" y="4191000"/>
            <a:ext cx="2895600" cy="1190625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</a:pPr>
            <a:r>
              <a:rPr lang="en-US" sz="1725">
                <a:solidFill>
                  <a:srgbClr val="6B6660"/>
                </a:solidFill>
                <a:latin typeface="Microsoft YaHei"/>
                <a:ea typeface="Microsoft YaHei"/>
              </a:rPr>
              <a:t>"</a:t>
            </a:r>
            <a:r>
              <a:rPr lang="zh-CN" sz="1725">
                <a:solidFill>
                  <a:srgbClr val="6B6660"/>
                </a:solidFill>
                <a:latin typeface="Microsoft YaHei"/>
                <a:ea typeface="Microsoft YaHei"/>
              </a:rPr>
              <a:t>我想切披萨学微积分！</a:t>
            </a:r>
            <a:r>
              <a:rPr lang="en-US" sz="1725">
                <a:solidFill>
                  <a:srgbClr val="6B6660"/>
                </a:solidFill>
                <a:latin typeface="Microsoft YaHei"/>
                <a:ea typeface="Microsoft YaHei"/>
              </a:rPr>
              <a:t>"</a:t>
            </a:r>
            <a:endParaRPr/>
          </a:p>
          <a:p>
            <a:pPr algn="ctr">
              <a:lnSpc>
                <a:spcPct val="150000"/>
              </a:lnSpc>
            </a:pPr>
            <a:r>
              <a:rPr lang="en-US" sz="1725">
                <a:solidFill>
                  <a:srgbClr val="6B6660"/>
                </a:solidFill>
                <a:latin typeface="Microsoft YaHei"/>
                <a:ea typeface="Microsoft YaHei"/>
              </a:rPr>
              <a:t>"</a:t>
            </a:r>
            <a:r>
              <a:rPr lang="zh-CN" sz="1725">
                <a:solidFill>
                  <a:srgbClr val="6B6660"/>
                </a:solidFill>
                <a:latin typeface="Microsoft YaHei"/>
                <a:ea typeface="Microsoft YaHei"/>
              </a:rPr>
              <a:t>青蛙换位置能不能做成游戏？</a:t>
            </a:r>
            <a:r>
              <a:rPr lang="en-US" sz="1725">
                <a:solidFill>
                  <a:srgbClr val="6B6660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3657600" y="3752850"/>
            <a:ext cx="4953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3900" b="1">
                <a:solidFill>
                  <a:srgbClr val="F97316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4381500" y="2476500"/>
            <a:ext cx="3429000" cy="3143250"/>
          </a:xfrm>
          <a:prstGeom prst="roundRect">
            <a:avLst>
              <a:gd name="adj" fmla="val 6061"/>
            </a:avLst>
          </a:prstGeom>
          <a:solidFill>
            <a:srgbClr val="F97316">
              <a:alpha val="10000"/>
            </a:srgbClr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4648200" y="2743200"/>
            <a:ext cx="2895600" cy="10096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6600" b="1">
                <a:solidFill>
                  <a:srgbClr val="F97316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4648200" y="4124325"/>
            <a:ext cx="2895600" cy="3429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2250" b="1">
                <a:solidFill>
                  <a:srgbClr val="33302E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2250" b="1">
                <a:solidFill>
                  <a:srgbClr val="33302E"/>
                </a:solidFill>
                <a:latin typeface="Microsoft YaHei"/>
                <a:ea typeface="Microsoft YaHei"/>
              </a:rPr>
              <a:t>写程序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4648200" y="4562475"/>
            <a:ext cx="2895600" cy="7905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1725">
                <a:solidFill>
                  <a:srgbClr val="6B666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725">
                <a:solidFill>
                  <a:srgbClr val="6B6660"/>
                </a:solidFill>
                <a:latin typeface="Microsoft YaHei"/>
                <a:ea typeface="Microsoft YaHei"/>
              </a:rPr>
              <a:t>几分钟就写出游戏代码，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1725">
                <a:solidFill>
                  <a:srgbClr val="6B6660"/>
                </a:solidFill>
                <a:latin typeface="Microsoft YaHei"/>
                <a:ea typeface="Microsoft YaHei"/>
              </a:rPr>
              <a:t>还会画动画、算答案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8039100" y="3752850"/>
            <a:ext cx="4953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3900" b="1">
                <a:solidFill>
                  <a:srgbClr val="F97316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8763000" y="2476500"/>
            <a:ext cx="3429000" cy="3143250"/>
          </a:xfrm>
          <a:prstGeom prst="roundRect">
            <a:avLst>
              <a:gd name="adj" fmla="val 6061"/>
            </a:avLst>
          </a:prstGeom>
          <a:solidFill>
            <a:srgbClr val="FFC93C">
              <a:alpha val="16000"/>
            </a:srgbClr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9029700" y="2743200"/>
            <a:ext cx="2895600" cy="10096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6600" b="1">
                <a:solidFill>
                  <a:srgbClr val="FFC93C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9029700" y="4124325"/>
            <a:ext cx="2895600" cy="3429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2250" b="1">
                <a:solidFill>
                  <a:srgbClr val="33302E"/>
                </a:solidFill>
                <a:latin typeface="Microsoft YaHei"/>
                <a:ea typeface="Microsoft YaHei"/>
              </a:rPr>
              <a:t>试玩再修改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9029700" y="4562475"/>
            <a:ext cx="2895600" cy="7905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725">
                <a:solidFill>
                  <a:srgbClr val="6B6660"/>
                </a:solidFill>
                <a:latin typeface="Microsoft YaHei"/>
                <a:ea typeface="Microsoft YaHei"/>
              </a:rPr>
              <a:t>我试玩后提意见：</a:t>
            </a:r>
            <a:endParaRPr/>
          </a:p>
          <a:p>
            <a:pPr algn="ctr">
              <a:lnSpc>
                <a:spcPct val="150000"/>
              </a:lnSpc>
            </a:pPr>
            <a:r>
              <a:rPr lang="en-US" sz="1725">
                <a:solidFill>
                  <a:srgbClr val="6B6660"/>
                </a:solidFill>
                <a:latin typeface="Microsoft YaHei"/>
                <a:ea typeface="Microsoft YaHei"/>
              </a:rPr>
              <a:t>"</a:t>
            </a:r>
            <a:r>
              <a:rPr lang="zh-CN" sz="1725">
                <a:solidFill>
                  <a:srgbClr val="6B6660"/>
                </a:solidFill>
                <a:latin typeface="Microsoft YaHei"/>
                <a:ea typeface="Microsoft YaHei"/>
              </a:rPr>
              <a:t>字太小！</a:t>
            </a:r>
            <a:r>
              <a:rPr lang="en-US" sz="1725">
                <a:solidFill>
                  <a:srgbClr val="6B6660"/>
                </a:solidFill>
                <a:latin typeface="Microsoft YaHei"/>
                <a:ea typeface="Microsoft YaHei"/>
              </a:rPr>
              <a:t>""</a:t>
            </a:r>
            <a:r>
              <a:rPr lang="zh-CN" sz="1725">
                <a:solidFill>
                  <a:srgbClr val="6B6660"/>
                </a:solidFill>
                <a:latin typeface="Microsoft YaHei"/>
                <a:ea typeface="Microsoft YaHei"/>
              </a:rPr>
              <a:t>提示再多一点！</a:t>
            </a:r>
            <a:r>
              <a:rPr lang="en-US" sz="1725">
                <a:solidFill>
                  <a:srgbClr val="6B6660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0" y="649605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580"/>
                </a:solidFill>
                <a:latin typeface="Microsoft YaHei"/>
                <a:ea typeface="Microsoft YaHei"/>
              </a:rPr>
              <a:t>我和</a:t>
            </a:r>
            <a:r>
              <a:rPr lang="en-US" sz="1050">
                <a:solidFill>
                  <a:srgbClr val="8A858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A8580"/>
                </a:solidFill>
                <a:latin typeface="Microsoft YaHei"/>
                <a:ea typeface="Microsoft YaHei"/>
              </a:rPr>
              <a:t>一起学数学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17348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580"/>
                </a:solidFill>
                <a:latin typeface="Microsoft YaHei"/>
                <a:ea typeface="Microsoft YaHei"/>
              </a:rPr>
              <a:t>04 / 15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72" name="" descr="&lt;Slide style={{ width: 1280, height: 720, background: '#FFF8F0', fontFamily: &quot;'Microsoft YaHei', sans-serif&quot; }}&gt;&#10;  {/* A 标题块 */}&#10;  &lt;Box style={{ height: 120, paddingHorizontal: 60, paddingTop: 30, flexDirection: 'row', alignItems: 'center', gap: 18 }}&gt;&#10;    &lt;Box style={{ width: 8, height: 56, background: '#F97316', borderRadius: 4 }} /&gt;&#10;    &lt;Text style={{ fontSize: 38, fontWeight: 'bold', color: '#33302E' }}&gt;AI 把&quot;看不懂&quot;变成&quot;看得见&quot;&lt;/Text&gt;&#10;  &lt;/Box&gt;&#10;  {/* B 内容区 */}&#10;  &lt;Box style={{ height: 540, paddingHorizontal: 60, flexDirection: 'column', justifyContent: 'space-between', paddingVertical: 16 }}&gt;&#10;    &lt;Box style={{ flexDirection: 'row', alignItems: 'center', justifyContent: 'center', gap: 20 }}&gt;&#10;      &lt;Box style={{ flexDirection: 'column', alignItems: 'center', gap: 10 }}&gt;&#10;        &lt;Image src=&quot;assets/pie4.png&quot; style={{ width: 470, height: 294, objectFit: 'cover', borderRadius: 18, boxShadow: '0 6px 24px rgba(51,48,46,0.15)' }} /&gt;&#10;        &lt;Text style={{ fontSize: 24, fontWeight: 'bold', color: '#6B6660' }}&gt;只切 4 块时&lt;/Text&gt;&#10;      &lt;/Box&gt;&#10;      &lt;Text style={{ fontSize: 60, fontWeight: 'bold', color: '#2BB3A3' }}&gt;→&lt;/Text&gt;&#10;      &lt;Box style={{ flexDirection: 'column', alignItems: 'center', gap: 10 }}&gt;&#10;        &lt;Image src=&quot;assets/pie100.png&quot; style={{ width: 470, height: 294, objectFit: 'cover', borderRadius: 18, boxShadow: '0 6px 24px rgba(51,48,46,0.15)' }} /&gt;&#10;        &lt;Text style={{ fontSize: 24, fontWeight: 'bold', color: '#6B6660' }}&gt;切 100 块时&lt;/Text&gt;&#10;      &lt;/Box&gt;&#10;    &lt;/Box&gt;&#10;    &lt;Box style={{ flexDirection: 'row', alignItems: 'center', justifyContent: 'center', gap: 30 }}&gt;&#10;      &lt;Text style={{ fontSize: 30, fontWeight: 'bold', color: '#33302E' }}&gt;算圆面积的误差：&lt;/Text&gt;&#10;      &lt;Text style={{ fontSize: 80, fontWeight: 'bold', color: '#8A8580' }}&gt;36%&lt;/Text&gt;&#10;      &lt;Text style={{ fontSize: 60, fontWeight: 'bold', color: '#F97316' }}&gt;→&lt;/Text&gt;&#10;      &lt;Text style={{ fontSize: 96, fontWeight: 'bold', color: '#F97316' }}&gt;0.066%&lt;/Text&gt;&#10;    &lt;/Box&gt;&#10;    &lt;Text style={{ fontSize: 26, color: '#33302E', textAlign: 'center', lineHeight: 1.5 }}&gt;&#10;      披萨切得越多，每一小块就越像三角形，拼出的面积越接近真正的圆——&lt;span style={{ fontWeight: 'bold', color: '#2BB3A3' }}&gt;这就是&quot;极限&quot;！&lt;/span&gt;&#10;    &lt;/Text&gt;&#10;  &lt;/Box&gt;&#10;  {/* C 页脚条 */}&#10;  &lt;Box style={{ height: 60, paddingHorizontal: 60, flexDirection: 'row', alignItems: 'center', justifyContent: 'space-between' }}&gt;&#10;    &lt;Text style={{ fontSize: 14, color: '#8A8580' }}&gt;我和 AI 一起学数学&lt;/Text&gt;&#10;    &lt;Text style={{ fontSize: 14, color: '#8A8580' }}&gt;05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p/>
        </p:txBody>
      </p:sp>
      <p:sp>
        <p:nvSpPr>
          <p:cNvPr id="174" name=""/>
          <p:cNvSpPr/>
          <p:nvPr/>
        </p:nvSpPr>
        <p:spPr>
          <a:xfrm rot="0" flipH="0" flipV="0">
            <a:off x="0" y="447675"/>
            <a:ext cx="76200" cy="5334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247650" y="495300"/>
            <a:ext cx="451485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33302E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2850" b="1">
                <a:solidFill>
                  <a:srgbClr val="33302E"/>
                </a:solidFill>
                <a:latin typeface="Microsoft YaHei"/>
                <a:ea typeface="Microsoft YaHei"/>
              </a:rPr>
              <a:t>把</a:t>
            </a:r>
            <a:r>
              <a:rPr lang="en-US" sz="2850" b="1">
                <a:solidFill>
                  <a:srgbClr val="33302E"/>
                </a:solidFill>
                <a:latin typeface="Microsoft YaHei"/>
                <a:ea typeface="Microsoft YaHei"/>
              </a:rPr>
              <a:t>"</a:t>
            </a:r>
            <a:r>
              <a:rPr lang="zh-CN" sz="2850" b="1">
                <a:solidFill>
                  <a:srgbClr val="33302E"/>
                </a:solidFill>
                <a:latin typeface="Microsoft YaHei"/>
                <a:ea typeface="Microsoft YaHei"/>
              </a:rPr>
              <a:t>看不懂</a:t>
            </a:r>
            <a:r>
              <a:rPr lang="en-US" sz="2850" b="1">
                <a:solidFill>
                  <a:srgbClr val="33302E"/>
                </a:solidFill>
                <a:latin typeface="Microsoft YaHei"/>
                <a:ea typeface="Microsoft YaHei"/>
              </a:rPr>
              <a:t>"</a:t>
            </a:r>
            <a:r>
              <a:rPr lang="zh-CN" sz="2850" b="1">
                <a:solidFill>
                  <a:srgbClr val="33302E"/>
                </a:solidFill>
                <a:latin typeface="Microsoft YaHei"/>
                <a:ea typeface="Microsoft YaHei"/>
              </a:rPr>
              <a:t>变成</a:t>
            </a:r>
            <a:r>
              <a:rPr lang="en-US" sz="2850" b="1">
                <a:solidFill>
                  <a:srgbClr val="33302E"/>
                </a:solidFill>
                <a:latin typeface="Microsoft YaHei"/>
                <a:ea typeface="Microsoft YaHei"/>
              </a:rPr>
              <a:t>"</a:t>
            </a:r>
            <a:r>
              <a:rPr lang="zh-CN" sz="2850" b="1">
                <a:solidFill>
                  <a:srgbClr val="33302E"/>
                </a:solidFill>
                <a:latin typeface="Microsoft YaHei"/>
                <a:ea typeface="Microsoft YaHei"/>
              </a:rPr>
              <a:t>看得见</a:t>
            </a:r>
            <a:r>
              <a:rPr lang="en-US" sz="2850" b="1">
                <a:solidFill>
                  <a:srgbClr val="33302E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pic>
        <p:nvPicPr>
          <p:cNvPr id="176" name=""/>
          <p:cNvPicPr>
            <a:picLocks noChangeAspect="1"/>
          </p:cNvPicPr>
          <p:nvPr/>
        </p:nvPicPr>
        <p:blipFill>
          <a:blip r:embed="rId1"/>
          <a:srcRect l="42" t="0" r="42" b="0"/>
          <a:stretch>
            <a:fillRect/>
          </a:stretch>
        </p:blipFill>
        <p:spPr>
          <a:xfrm rot="0" flipH="0" flipV="0">
            <a:off x="1143000" y="1143000"/>
            <a:ext cx="4476750" cy="2800350"/>
          </a:xfrm>
          <a:prstGeom prst="roundRect">
            <a:avLst>
              <a:gd name="adj" fmla="val 6122"/>
            </a:avLst>
          </a:prstGeom>
          <a:ln/>
          <a:effectLst>
            <a:outerShdw blurRad="228600" dist="57150" dir="5400000">
              <a:srgbClr val="33302E">
                <a:alpha val="15000"/>
              </a:srgbClr>
            </a:outerShdw>
          </a:effectLst>
        </p:spPr>
      </p:pic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2781300" y="4038600"/>
            <a:ext cx="12001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6B6660"/>
                </a:solidFill>
                <a:latin typeface="Microsoft YaHei"/>
                <a:ea typeface="Microsoft YaHei"/>
              </a:rPr>
              <a:t>只切</a:t>
            </a:r>
            <a:r>
              <a:rPr lang="en-US" sz="1800" b="1">
                <a:solidFill>
                  <a:srgbClr val="6B6660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800" b="1">
                <a:solidFill>
                  <a:srgbClr val="6B6660"/>
                </a:solidFill>
                <a:latin typeface="Microsoft YaHei"/>
                <a:ea typeface="Microsoft YaHei"/>
              </a:rPr>
              <a:t>块时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5810250" y="2390775"/>
            <a:ext cx="5715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4500" b="1">
                <a:solidFill>
                  <a:srgbClr val="2BB3A3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pic>
        <p:nvPicPr>
          <p:cNvPr id="179" name=""/>
          <p:cNvPicPr>
            <a:picLocks noChangeAspect="1"/>
          </p:cNvPicPr>
          <p:nvPr/>
        </p:nvPicPr>
        <p:blipFill>
          <a:blip r:embed="rId2"/>
          <a:srcRect l="42" t="0" r="42" b="0"/>
          <a:stretch>
            <a:fillRect/>
          </a:stretch>
        </p:blipFill>
        <p:spPr>
          <a:xfrm rot="0" flipH="0" flipV="0">
            <a:off x="6572250" y="1143000"/>
            <a:ext cx="4476750" cy="2800350"/>
          </a:xfrm>
          <a:prstGeom prst="roundRect">
            <a:avLst>
              <a:gd name="adj" fmla="val 6122"/>
            </a:avLst>
          </a:prstGeom>
          <a:ln/>
          <a:effectLst>
            <a:outerShdw blurRad="228600" dist="57150" dir="5400000">
              <a:srgbClr val="33302E">
                <a:alpha val="15000"/>
              </a:srgbClr>
            </a:outerShdw>
          </a:effectLst>
        </p:spPr>
      </p:pic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191500" y="4038600"/>
            <a:ext cx="12477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6B6660"/>
                </a:solidFill>
                <a:latin typeface="Microsoft YaHei"/>
                <a:ea typeface="Microsoft YaHei"/>
              </a:rPr>
              <a:t>切</a:t>
            </a:r>
            <a:r>
              <a:rPr lang="en-US" sz="1800" b="1">
                <a:solidFill>
                  <a:srgbClr val="6B6660"/>
                </a:solidFill>
                <a:latin typeface="Microsoft YaHei"/>
                <a:ea typeface="Microsoft YaHei"/>
              </a:rPr>
              <a:t xml:space="preserve"> 100 </a:t>
            </a:r>
            <a:r>
              <a:rPr lang="zh-CN" sz="1800" b="1">
                <a:solidFill>
                  <a:srgbClr val="6B6660"/>
                </a:solidFill>
                <a:latin typeface="Microsoft YaHei"/>
                <a:ea typeface="Microsoft YaHei"/>
              </a:rPr>
              <a:t>块时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724025" y="4905375"/>
            <a:ext cx="2286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33302E"/>
                </a:solidFill>
                <a:latin typeface="Microsoft YaHei"/>
                <a:ea typeface="Microsoft YaHei"/>
              </a:rPr>
              <a:t>算圆面积的误差：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4295775" y="4619625"/>
            <a:ext cx="1657350" cy="914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0" b="1">
                <a:solidFill>
                  <a:srgbClr val="8A8580"/>
                </a:solidFill>
                <a:latin typeface="Microsoft YaHei"/>
                <a:ea typeface="Microsoft YaHei"/>
              </a:rPr>
              <a:t>36%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238875" y="4733925"/>
            <a:ext cx="5715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4500" b="1">
                <a:solidFill>
                  <a:srgbClr val="F97316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7096125" y="4524375"/>
            <a:ext cx="337185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97316"/>
                </a:solidFill>
                <a:latin typeface="Microsoft YaHei"/>
                <a:ea typeface="Microsoft YaHei"/>
              </a:rPr>
              <a:t>0.066%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0" y="5838825"/>
            <a:ext cx="12192000" cy="4476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950">
                <a:solidFill>
                  <a:srgbClr val="33302E"/>
                </a:solidFill>
                <a:latin typeface="Microsoft YaHei"/>
                <a:ea typeface="Microsoft YaHei"/>
              </a:rPr>
              <a:t>披萨切得越多，每一小块就越像三角形，拼出的面积越接近真正的圆——</a:t>
            </a:r>
            <a:r>
              <a:rPr lang="zh-CN" sz="1950" b="1">
                <a:solidFill>
                  <a:srgbClr val="2BB3A3"/>
                </a:solidFill>
                <a:latin typeface="Microsoft YaHei"/>
                <a:ea typeface="Microsoft YaHei"/>
              </a:rPr>
              <a:t>这就是</a:t>
            </a:r>
            <a:r>
              <a:rPr lang="en-US" sz="1950" b="1">
                <a:solidFill>
                  <a:srgbClr val="2BB3A3"/>
                </a:solidFill>
                <a:latin typeface="Microsoft YaHei"/>
                <a:ea typeface="Microsoft YaHei"/>
              </a:rPr>
              <a:t>"</a:t>
            </a:r>
            <a:r>
              <a:rPr lang="zh-CN" sz="1950" b="1">
                <a:solidFill>
                  <a:srgbClr val="2BB3A3"/>
                </a:solidFill>
                <a:latin typeface="Microsoft YaHei"/>
                <a:ea typeface="Microsoft YaHei"/>
              </a:rPr>
              <a:t>极限</a:t>
            </a:r>
            <a:r>
              <a:rPr lang="en-US" sz="1950" b="1">
                <a:solidFill>
                  <a:srgbClr val="2BB3A3"/>
                </a:solidFill>
                <a:latin typeface="Microsoft YaHei"/>
                <a:ea typeface="Microsoft YaHei"/>
              </a:rPr>
              <a:t>"</a:t>
            </a:r>
            <a:r>
              <a:rPr lang="zh-CN" sz="1950" b="1">
                <a:solidFill>
                  <a:srgbClr val="2BB3A3"/>
                </a:solidFill>
                <a:latin typeface="Microsoft YaHei"/>
                <a:ea typeface="Microsoft YaHei"/>
              </a:rPr>
              <a:t>！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0" y="649605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580"/>
                </a:solidFill>
                <a:latin typeface="Microsoft YaHei"/>
                <a:ea typeface="Microsoft YaHei"/>
              </a:rPr>
              <a:t>我和</a:t>
            </a:r>
            <a:r>
              <a:rPr lang="en-US" sz="1050">
                <a:solidFill>
                  <a:srgbClr val="8A858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A8580"/>
                </a:solidFill>
                <a:latin typeface="Microsoft YaHei"/>
                <a:ea typeface="Microsoft YaHei"/>
              </a:rPr>
              <a:t>一起学数学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17348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580"/>
                </a:solidFill>
                <a:latin typeface="Microsoft YaHei"/>
                <a:ea typeface="Microsoft YaHei"/>
              </a:rPr>
              <a:t>05 / 15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88" name="" descr="&lt;Slide style={{ width: 1280, height: 720, background: '#FFF8F0', fontFamily: &quot;'Microsoft YaHei', sans-serif&quot; }}&gt;&#10;  {/* A 标题块 */}&#10;  &lt;Box style={{ height: 120, paddingHorizontal: 60, paddingTop: 30, flexDirection: 'row', alignItems: 'center', gap: 18 }}&gt;&#10;    &lt;Box style={{ width: 8, height: 56, background: '#F97316', borderRadius: 4 }} /&gt;&#10;    &lt;Text style={{ fontSize: 38, fontWeight: 'bold', color: '#33302E' }}&gt;复杂的难题，AI 也能&quot;演&quot;给我看&lt;/Text&gt;&#10;  &lt;/Box&gt;&#10;  {/* B 内容区 */}&#10;  &lt;Box style={{ height: 540, paddingHorizontal: 60, flexDirection: 'row', gap: 28, alignItems: 'center' }}&gt;&#10;    &lt;Box style={{ flex: 1, height: 500, background: '#FFFFFF', borderRadius: 20, padding: 24, boxShadow: '0 6px 24px rgba(51,48,46,0.10)', flexDirection: 'column' }}&gt;&#10;      &lt;Text style={{ fontSize: 28, fontWeight: 'bold', color: '#2BB3A3' }}&gt;星芒阵封印 · 几何极值题&lt;/Text&gt;&#10;      &lt;Image src=&quot;assets/triangleremove.png&quot; style={{ width: 512, height: 320, objectFit: 'cover', borderRadius: 14, marginTop: 14 }} /&gt;&#10;      &lt;Text style={{ fontSize: 23, color: '#33302E', lineHeight: 1.5, marginTop: 14 }}&gt;&#10;        15 个点里去掉几个点，正三角形才会消失？AI 用&quot;排查雷达&quot;一条条连线给我看。&#10;      &lt;/Text&gt;&#10;    &lt;/Box&gt;&#10;    &lt;Box style={{ flex: 1, height: 500, background: '#FFFFFF', borderRadius: 20, padding: 24, boxShadow: '0 6px 24px rgba(51,48,46,0.10)', flexDirection: 'column' }}&gt;&#10;      &lt;Text style={{ fontSize: 28, fontWeight: 'bold', color: '#F97316' }}&gt;齿轮谜题 · 一步步拆解&lt;/Text&gt;&#10;      &lt;Image src=&quot;assets/chilun.png&quot; style={{ width: 512, height: 320, objectFit: 'cover', borderRadius: 14, marginTop: 14 }} /&gt;&#10;      &lt;Text style={{ fontSize: 23, color: '#33302E', lineHeight: 1.5, marginTop: 14 }}&gt;&#10;        六个齿轮转来转去好头晕？AI 把题目拆成一步一步的互动讲解。&#10;      &lt;/Text&gt;&#10;    &lt;/Box&gt;&#10;  &lt;/Box&gt;&#10;  {/* C 页脚条 */}&#10;  &lt;Box style={{ height: 60, paddingHorizontal: 60, flexDirection: 'row', alignItems: 'center', justifyContent: 'space-between' }}&gt;&#10;    &lt;Text style={{ fontSize: 14, color: '#8A8580' }}&gt;我和 AI 一起学数学&lt;/Text&gt;&#10;    &lt;Text style={{ fontSize: 14, color: '#8A8580' }}&gt;06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0" y="447675"/>
            <a:ext cx="76200" cy="5334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247650" y="495300"/>
            <a:ext cx="522922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33302E"/>
                </a:solidFill>
                <a:latin typeface="Microsoft YaHei"/>
                <a:ea typeface="Microsoft YaHei"/>
              </a:rPr>
              <a:t>复杂的难题，</a:t>
            </a:r>
            <a:r>
              <a:rPr lang="en-US" sz="2850" b="1">
                <a:solidFill>
                  <a:srgbClr val="33302E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2850" b="1">
                <a:solidFill>
                  <a:srgbClr val="33302E"/>
                </a:solidFill>
                <a:latin typeface="Microsoft YaHei"/>
                <a:ea typeface="Microsoft YaHei"/>
              </a:rPr>
              <a:t>也能</a:t>
            </a:r>
            <a:r>
              <a:rPr lang="en-US" sz="2850" b="1">
                <a:solidFill>
                  <a:srgbClr val="33302E"/>
                </a:solidFill>
                <a:latin typeface="Microsoft YaHei"/>
                <a:ea typeface="Microsoft YaHei"/>
              </a:rPr>
              <a:t>"</a:t>
            </a:r>
            <a:r>
              <a:rPr lang="zh-CN" sz="2850" b="1">
                <a:solidFill>
                  <a:srgbClr val="33302E"/>
                </a:solidFill>
                <a:latin typeface="Microsoft YaHei"/>
                <a:ea typeface="Microsoft YaHei"/>
              </a:rPr>
              <a:t>演</a:t>
            </a:r>
            <a:r>
              <a:rPr lang="en-US" sz="2850" b="1">
                <a:solidFill>
                  <a:srgbClr val="33302E"/>
                </a:solidFill>
                <a:latin typeface="Microsoft YaHei"/>
                <a:ea typeface="Microsoft YaHei"/>
              </a:rPr>
              <a:t>"</a:t>
            </a:r>
            <a:r>
              <a:rPr lang="zh-CN" sz="2850" b="1">
                <a:solidFill>
                  <a:srgbClr val="33302E"/>
                </a:solidFill>
                <a:latin typeface="Microsoft YaHei"/>
                <a:ea typeface="Microsoft YaHei"/>
              </a:rPr>
              <a:t>给我看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0" y="1333500"/>
            <a:ext cx="5962650" cy="4762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33302E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228600" y="1562100"/>
            <a:ext cx="55054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2BB3A3"/>
                </a:solidFill>
                <a:latin typeface="Microsoft YaHei"/>
                <a:ea typeface="Microsoft YaHei"/>
              </a:rPr>
              <a:t>星芒阵封印</a:t>
            </a:r>
            <a:r>
              <a:rPr lang="en-US" sz="2100" b="1">
                <a:solidFill>
                  <a:srgbClr val="2BB3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100" b="1">
                <a:solidFill>
                  <a:srgbClr val="2BB3A3"/>
                </a:solidFill>
                <a:latin typeface="Microsoft YaHei"/>
                <a:ea typeface="Microsoft YaHei"/>
              </a:rPr>
              <a:t>几何极值题</a:t>
            </a:r>
            <a:endParaRPr/>
          </a:p>
        </p:txBody>
      </p:sp>
      <p:pic>
        <p:nvPicPr>
          <p:cNvPr id="194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228600" y="2019300"/>
            <a:ext cx="4876800" cy="3048000"/>
          </a:xfrm>
          <a:prstGeom prst="roundRect">
            <a:avLst>
              <a:gd name="adj" fmla="val 4375"/>
            </a:avLst>
          </a:prstGeom>
          <a:ln/>
        </p:spPr>
      </p:pic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228600" y="5200650"/>
            <a:ext cx="5505450" cy="790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725">
                <a:solidFill>
                  <a:srgbClr val="33302E"/>
                </a:solidFill>
                <a:latin typeface="Microsoft YaHei"/>
                <a:ea typeface="Microsoft YaHei"/>
              </a:rPr>
              <a:t xml:space="preserve">15 </a:t>
            </a:r>
            <a:r>
              <a:rPr lang="zh-CN" sz="1725">
                <a:solidFill>
                  <a:srgbClr val="33302E"/>
                </a:solidFill>
                <a:latin typeface="Microsoft YaHei"/>
                <a:ea typeface="Microsoft YaHei"/>
              </a:rPr>
              <a:t>个点里去掉几个点，正三角形才会消失？</a:t>
            </a:r>
            <a:r>
              <a:rPr lang="en-US" sz="1725">
                <a:solidFill>
                  <a:srgbClr val="33302E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725">
                <a:solidFill>
                  <a:srgbClr val="33302E"/>
                </a:solidFill>
                <a:latin typeface="Microsoft YaHei"/>
                <a:ea typeface="Microsoft YaHei"/>
              </a:rPr>
              <a:t>用</a:t>
            </a:r>
            <a:r>
              <a:rPr lang="en-US" sz="1725">
                <a:solidFill>
                  <a:srgbClr val="33302E"/>
                </a:solidFill>
                <a:latin typeface="Microsoft YaHei"/>
                <a:ea typeface="Microsoft YaHei"/>
              </a:rPr>
              <a:t>"</a:t>
            </a:r>
            <a:r>
              <a:rPr lang="zh-CN" sz="1725">
                <a:solidFill>
                  <a:srgbClr val="33302E"/>
                </a:solidFill>
                <a:latin typeface="Microsoft YaHei"/>
                <a:ea typeface="Microsoft YaHei"/>
              </a:rPr>
              <a:t>排查雷达</a:t>
            </a:r>
            <a:r>
              <a:rPr lang="en-US" sz="1725">
                <a:solidFill>
                  <a:srgbClr val="33302E"/>
                </a:solidFill>
                <a:latin typeface="Microsoft YaHei"/>
                <a:ea typeface="Microsoft YaHei"/>
              </a:rPr>
              <a:t>"</a:t>
            </a:r>
            <a:r>
              <a:rPr lang="zh-CN" sz="1725">
                <a:solidFill>
                  <a:srgbClr val="33302E"/>
                </a:solidFill>
                <a:latin typeface="Microsoft YaHei"/>
                <a:ea typeface="Microsoft YaHei"/>
              </a:rPr>
              <a:t>一条条连线给我看。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6229350" y="1333500"/>
            <a:ext cx="5962650" cy="4762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33302E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6457950" y="1562100"/>
            <a:ext cx="55054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97316"/>
                </a:solidFill>
                <a:latin typeface="Microsoft YaHei"/>
                <a:ea typeface="Microsoft YaHei"/>
              </a:rPr>
              <a:t>齿轮谜题</a:t>
            </a:r>
            <a:r>
              <a:rPr lang="en-US" sz="2100" b="1">
                <a:solidFill>
                  <a:srgbClr val="F9731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100" b="1">
                <a:solidFill>
                  <a:srgbClr val="F97316"/>
                </a:solidFill>
                <a:latin typeface="Microsoft YaHei"/>
                <a:ea typeface="Microsoft YaHei"/>
              </a:rPr>
              <a:t>一步步拆解</a:t>
            </a:r>
            <a:endParaRPr/>
          </a:p>
        </p:txBody>
      </p:sp>
      <p:pic>
        <p:nvPicPr>
          <p:cNvPr id="198" nam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0" flipH="0" flipV="0">
            <a:off x="6457950" y="2019300"/>
            <a:ext cx="4876800" cy="3048000"/>
          </a:xfrm>
          <a:prstGeom prst="roundRect">
            <a:avLst>
              <a:gd name="adj" fmla="val 4375"/>
            </a:avLst>
          </a:prstGeom>
          <a:ln/>
        </p:spPr>
      </p:pic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457950" y="5200650"/>
            <a:ext cx="5505450" cy="790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725">
                <a:solidFill>
                  <a:srgbClr val="33302E"/>
                </a:solidFill>
                <a:latin typeface="Microsoft YaHei"/>
                <a:ea typeface="Microsoft YaHei"/>
              </a:rPr>
              <a:t>六个齿轮转来转去好头晕？</a:t>
            </a:r>
            <a:r>
              <a:rPr lang="en-US" sz="1725">
                <a:solidFill>
                  <a:srgbClr val="33302E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725">
                <a:solidFill>
                  <a:srgbClr val="33302E"/>
                </a:solidFill>
                <a:latin typeface="Microsoft YaHei"/>
                <a:ea typeface="Microsoft YaHei"/>
              </a:rPr>
              <a:t>把题目拆成一步一步的互动讲解。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0" y="649605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580"/>
                </a:solidFill>
                <a:latin typeface="Microsoft YaHei"/>
                <a:ea typeface="Microsoft YaHei"/>
              </a:rPr>
              <a:t>我和</a:t>
            </a:r>
            <a:r>
              <a:rPr lang="en-US" sz="1050">
                <a:solidFill>
                  <a:srgbClr val="8A858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A8580"/>
                </a:solidFill>
                <a:latin typeface="Microsoft YaHei"/>
                <a:ea typeface="Microsoft YaHei"/>
              </a:rPr>
              <a:t>一起学数学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117348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580"/>
                </a:solidFill>
                <a:latin typeface="Microsoft YaHei"/>
                <a:ea typeface="Microsoft YaHei"/>
              </a:rPr>
              <a:t>06 / 15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02" name="" descr="&lt;Slide style={{ width: 1280, height: 720, background: '#FFF8F0', fontFamily: &quot;'Microsoft YaHei', sans-serif&quot; }}&gt;&#10;  {/* A 标题块 */}&#10;  &lt;Box style={{ height: 120, paddingHorizontal: 60, paddingTop: 30, flexDirection: 'row', alignItems: 'center', gap: 18 }}&gt;&#10;    &lt;Box style={{ width: 8, height: 56, background: '#F97316', borderRadius: 4 }} /&gt;&#10;    &lt;Text style={{ fontSize: 38, fontWeight: 'bold', color: '#33302E' }}&gt;AI 把难题变成闯关游戏&lt;/Text&gt;&#10;  &lt;/Box&gt;&#10;  {/* B 内容区 */}&#10;  &lt;Box style={{ height: 540, paddingHorizontal: 60, flexDirection: 'row', gap: 40, alignItems: 'center' }}&gt;&#10;    &lt;Box style={{ flex: 1, flexDirection: 'column', gap: 22 }}&gt;&#10;      &lt;Text style={{ fontSize: 26, color: '#33302E', lineHeight: 1.55 }}&gt;&#10;        &quot;黑白青蛙互换位置&quot;是一道经典的&lt;span style={{ fontWeight: 'bold', color: '#F97316' }}&gt;奥数题&lt;/span&gt;。AI 把它做成了可爱的闯关游戏——&#10;      &lt;/Text&gt;&#10;      &lt;Box style={{ background: 'rgba(43,179,163,0.10)', borderRadius: 16, padding: '16px 22px', flexDirection: 'row', alignItems: 'center', gap: 16 }}&gt;&#10;        &lt;Text style={{ fontSize: 34, fontWeight: 'bold', color: '#2BB3A3' }}&gt;💡&lt;/Text&gt;&#10;        &lt;Text style={{ fontSize: 24, color: '#33302E', lineHeight: 1.45 }}&gt;我卡住的时候，它给&lt;span style={{ fontWeight: 'bold' }}&gt;智能提示&lt;/span&gt;，只提醒一小步&lt;/Text&gt;&#10;      &lt;/Box&gt;&#10;      &lt;Box style={{ background: 'rgba(249,115,22,0.10)', borderRadius: 16, padding: '16px 22px', flexDirection: 'row', alignItems: 'center', gap: 16 }}&gt;&#10;        &lt;Text style={{ fontSize: 34, fontWeight: 'bold', color: '#F97316' }}&gt;🎬&lt;/Text&gt;&#10;        &lt;Text style={{ fontSize: 24, color: '#33302E', lineHeight: 1.45 }}&gt;还能&lt;span style={{ fontWeight: 'bold' }}&gt;自动演示&lt;/span&gt;：看它用最少的 17 步通关！&lt;/Text&gt;&#10;      &lt;/Box&gt;&#10;      &lt;Box style={{ background: 'rgba(255,201,60,0.16)', borderRadius: 16, padding: '16px 22px', flexDirection: 'row', alignItems: 'center', gap: 16 }}&gt;&#10;        &lt;Text style={{ fontSize: 34, fontWeight: 'bold', color: '#F97316' }}&gt;🎉&lt;/Text&gt;&#10;        &lt;Text style={{ fontSize: 24, color: '#33302E', lineHeight: 1.45 }}&gt;每做对一步都会&lt;span style={{ fontWeight: 'bold' }}&gt;夸奖我&lt;/span&gt;，做错了也不批评&lt;/Text&gt;&#10;      &lt;/Box&gt;&#10;      &lt;Text style={{ fontSize: 26, color: '#33302E', lineHeight: 1.5 }}&gt;&#10;        玩着玩着，这道奥数题我就真的&lt;span style={{ fontWeight: 'bold', color: '#2BB3A3' }}&gt;想明白了&lt;/span&gt;！&#10;      &lt;/Text&gt;&#10;    &lt;/Box&gt;&#10;    &lt;Box style={{ width: 600, flexDirection: 'column', alignItems: 'center', gap: 12 }}&gt;&#10;      &lt;Image src=&quot;assets/jumpfrog.png&quot; style={{ width: 600, height: 375, objectFit: 'cover', borderRadius: 20, boxShadow: '0 6px 24px rgba(51,48,46,0.15)' }} /&gt;&#10;      &lt;Text style={{ fontSize: 16, color: '#8A8580' }}&gt;青蛙跳跃 · 荷塘换位挑战&lt;/Text&gt;&#10;    &lt;/Box&gt;&#10;  &lt;/Box&gt;&#10;  {/* C 页脚条 */}&#10;  &lt;Box style={{ height: 60, paddingHorizontal: 60, flexDirection: 'row', alignItems: 'center', justifyContent: 'space-between' }}&gt;&#10;    &lt;Text style={{ fontSize: 14, color: '#8A8580' }}&gt;我和 AI 一起学数学&lt;/Text&gt;&#10;    &lt;Text style={{ fontSize: 14, color: '#8A8580' }}&gt;07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p/>
        </p:txBody>
      </p:sp>
      <p:sp>
        <p:nvSpPr>
          <p:cNvPr id="204" name=""/>
          <p:cNvSpPr/>
          <p:nvPr/>
        </p:nvSpPr>
        <p:spPr>
          <a:xfrm rot="0" flipH="0" flipV="0">
            <a:off x="0" y="447675"/>
            <a:ext cx="76200" cy="5334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247650" y="495300"/>
            <a:ext cx="376237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33302E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2850" b="1">
                <a:solidFill>
                  <a:srgbClr val="33302E"/>
                </a:solidFill>
                <a:latin typeface="Microsoft YaHei"/>
                <a:ea typeface="Microsoft YaHei"/>
              </a:rPr>
              <a:t>把难题变成闯关游戏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0" y="1552575"/>
            <a:ext cx="6096000" cy="923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950">
                <a:solidFill>
                  <a:srgbClr val="33302E"/>
                </a:solidFill>
                <a:latin typeface="Microsoft YaHei"/>
                <a:ea typeface="Microsoft YaHei"/>
              </a:rPr>
              <a:t>"</a:t>
            </a:r>
            <a:r>
              <a:rPr lang="zh-CN" sz="1950">
                <a:solidFill>
                  <a:srgbClr val="33302E"/>
                </a:solidFill>
                <a:latin typeface="Microsoft YaHei"/>
                <a:ea typeface="Microsoft YaHei"/>
              </a:rPr>
              <a:t>黑白青蛙互换位置</a:t>
            </a:r>
            <a:r>
              <a:rPr lang="en-US" sz="1950">
                <a:solidFill>
                  <a:srgbClr val="33302E"/>
                </a:solidFill>
                <a:latin typeface="Microsoft YaHei"/>
                <a:ea typeface="Microsoft YaHei"/>
              </a:rPr>
              <a:t>"</a:t>
            </a:r>
            <a:r>
              <a:rPr lang="zh-CN" sz="1950">
                <a:solidFill>
                  <a:srgbClr val="33302E"/>
                </a:solidFill>
                <a:latin typeface="Microsoft YaHei"/>
                <a:ea typeface="Microsoft YaHei"/>
              </a:rPr>
              <a:t>是一道经典的</a:t>
            </a:r>
            <a:r>
              <a:rPr lang="zh-CN" sz="1950" b="1">
                <a:solidFill>
                  <a:srgbClr val="F97316"/>
                </a:solidFill>
                <a:latin typeface="Microsoft YaHei"/>
                <a:ea typeface="Microsoft YaHei"/>
              </a:rPr>
              <a:t>奥数题</a:t>
            </a:r>
            <a:r>
              <a:rPr lang="zh-CN" sz="1950">
                <a:solidFill>
                  <a:srgbClr val="33302E"/>
                </a:solidFill>
                <a:latin typeface="Microsoft YaHei"/>
                <a:ea typeface="Microsoft YaHei"/>
              </a:rPr>
              <a:t>。</a:t>
            </a:r>
            <a:r>
              <a:rPr lang="en-US" sz="1950">
                <a:solidFill>
                  <a:srgbClr val="33302E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950">
                <a:solidFill>
                  <a:srgbClr val="33302E"/>
                </a:solidFill>
                <a:latin typeface="Microsoft YaHei"/>
                <a:ea typeface="Microsoft YaHei"/>
              </a:rPr>
              <a:t>把它做成了可爱的闯关游戏——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0" y="2686050"/>
            <a:ext cx="6096000" cy="704850"/>
          </a:xfrm>
          <a:prstGeom prst="roundRect">
            <a:avLst>
              <a:gd name="adj" fmla="val 21622"/>
            </a:avLst>
          </a:prstGeom>
          <a:solidFill>
            <a:srgbClr val="2BB3A3">
              <a:alpha val="10000"/>
            </a:srgbClr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209550" y="2847975"/>
            <a:ext cx="4476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550" b="1">
                <a:solidFill>
                  <a:srgbClr val="2BB3A3"/>
                </a:solidFill>
                <a:latin typeface="Microsoft YaHei"/>
                <a:ea typeface="Microsoft YaHei"/>
              </a:rPr>
              <a:t>💡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809625" y="2838450"/>
            <a:ext cx="4572000" cy="4000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>
                <a:solidFill>
                  <a:srgbClr val="33302E"/>
                </a:solidFill>
                <a:latin typeface="Microsoft YaHei"/>
                <a:ea typeface="Microsoft YaHei"/>
              </a:rPr>
              <a:t>我卡住的时候，它给</a:t>
            </a:r>
            <a:r>
              <a:rPr lang="zh-CN" sz="1800" b="1">
                <a:solidFill>
                  <a:srgbClr val="33302E"/>
                </a:solidFill>
                <a:latin typeface="Microsoft YaHei"/>
                <a:ea typeface="Microsoft YaHei"/>
              </a:rPr>
              <a:t>智能提示</a:t>
            </a:r>
            <a:r>
              <a:rPr lang="zh-CN" sz="1800">
                <a:solidFill>
                  <a:srgbClr val="33302E"/>
                </a:solidFill>
                <a:latin typeface="Microsoft YaHei"/>
                <a:ea typeface="Microsoft YaHei"/>
              </a:rPr>
              <a:t>，只提醒一小步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0" y="3600450"/>
            <a:ext cx="6096000" cy="704850"/>
          </a:xfrm>
          <a:prstGeom prst="roundRect">
            <a:avLst>
              <a:gd name="adj" fmla="val 21622"/>
            </a:avLst>
          </a:prstGeom>
          <a:solidFill>
            <a:srgbClr val="F97316">
              <a:alpha val="10000"/>
            </a:srgbClr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209550" y="3762375"/>
            <a:ext cx="4476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550" b="1">
                <a:solidFill>
                  <a:srgbClr val="F97316"/>
                </a:solidFill>
                <a:latin typeface="Microsoft YaHei"/>
                <a:ea typeface="Microsoft YaHei"/>
              </a:rPr>
              <a:t>🎬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809625" y="3752850"/>
            <a:ext cx="4295775" cy="4000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>
                <a:solidFill>
                  <a:srgbClr val="33302E"/>
                </a:solidFill>
                <a:latin typeface="Microsoft YaHei"/>
                <a:ea typeface="Microsoft YaHei"/>
              </a:rPr>
              <a:t>还能</a:t>
            </a:r>
            <a:r>
              <a:rPr lang="zh-CN" sz="1800" b="1">
                <a:solidFill>
                  <a:srgbClr val="33302E"/>
                </a:solidFill>
                <a:latin typeface="Microsoft YaHei"/>
                <a:ea typeface="Microsoft YaHei"/>
              </a:rPr>
              <a:t>自动演示</a:t>
            </a:r>
            <a:r>
              <a:rPr lang="zh-CN" sz="1800">
                <a:solidFill>
                  <a:srgbClr val="33302E"/>
                </a:solidFill>
                <a:latin typeface="Microsoft YaHei"/>
                <a:ea typeface="Microsoft YaHei"/>
              </a:rPr>
              <a:t>：看它用最少的</a:t>
            </a:r>
            <a:r>
              <a:rPr lang="en-US" sz="1800">
                <a:solidFill>
                  <a:srgbClr val="33302E"/>
                </a:solidFill>
                <a:latin typeface="Microsoft YaHei"/>
                <a:ea typeface="Microsoft YaHei"/>
              </a:rPr>
              <a:t xml:space="preserve"> 17 </a:t>
            </a:r>
            <a:r>
              <a:rPr lang="zh-CN" sz="1800">
                <a:solidFill>
                  <a:srgbClr val="33302E"/>
                </a:solidFill>
                <a:latin typeface="Microsoft YaHei"/>
                <a:ea typeface="Microsoft YaHei"/>
              </a:rPr>
              <a:t>步通关！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0" y="4514850"/>
            <a:ext cx="6096000" cy="704850"/>
          </a:xfrm>
          <a:prstGeom prst="roundRect">
            <a:avLst>
              <a:gd name="adj" fmla="val 21622"/>
            </a:avLst>
          </a:prstGeom>
          <a:solidFill>
            <a:srgbClr val="FFC93C">
              <a:alpha val="16000"/>
            </a:srgbClr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209550" y="4676775"/>
            <a:ext cx="4476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550" b="1">
                <a:solidFill>
                  <a:srgbClr val="F97316"/>
                </a:solidFill>
                <a:latin typeface="Microsoft YaHei"/>
                <a:ea typeface="Microsoft YaHei"/>
              </a:rPr>
              <a:t>🎉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809625" y="4667250"/>
            <a:ext cx="4114800" cy="4000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>
                <a:solidFill>
                  <a:srgbClr val="33302E"/>
                </a:solidFill>
                <a:latin typeface="Microsoft YaHei"/>
                <a:ea typeface="Microsoft YaHei"/>
              </a:rPr>
              <a:t>每做对一步都会</a:t>
            </a:r>
            <a:r>
              <a:rPr lang="zh-CN" sz="1800" b="1">
                <a:solidFill>
                  <a:srgbClr val="33302E"/>
                </a:solidFill>
                <a:latin typeface="Microsoft YaHei"/>
                <a:ea typeface="Microsoft YaHei"/>
              </a:rPr>
              <a:t>夸奖我</a:t>
            </a:r>
            <a:r>
              <a:rPr lang="zh-CN" sz="1800">
                <a:solidFill>
                  <a:srgbClr val="33302E"/>
                </a:solidFill>
                <a:latin typeface="Microsoft YaHei"/>
                <a:ea typeface="Microsoft YaHei"/>
              </a:rPr>
              <a:t>，做错了也不批评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0" y="5429250"/>
            <a:ext cx="60960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33302E"/>
                </a:solidFill>
                <a:latin typeface="Microsoft YaHei"/>
                <a:ea typeface="Microsoft YaHei"/>
              </a:rPr>
              <a:t>玩着玩着，这道奥数题我就真的</a:t>
            </a:r>
            <a:r>
              <a:rPr lang="zh-CN" sz="1950" b="1">
                <a:solidFill>
                  <a:srgbClr val="2BB3A3"/>
                </a:solidFill>
                <a:latin typeface="Microsoft YaHei"/>
                <a:ea typeface="Microsoft YaHei"/>
              </a:rPr>
              <a:t>想明白了</a:t>
            </a:r>
            <a:r>
              <a:rPr lang="zh-CN" sz="1950">
                <a:solidFill>
                  <a:srgbClr val="33302E"/>
                </a:solidFill>
                <a:latin typeface="Microsoft YaHei"/>
                <a:ea typeface="Microsoft YaHei"/>
              </a:rPr>
              <a:t>！</a:t>
            </a:r>
            <a:endParaRPr/>
          </a:p>
        </p:txBody>
      </p:sp>
      <p:pic>
        <p:nvPicPr>
          <p:cNvPr id="217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6477000" y="1781175"/>
            <a:ext cx="5715000" cy="3571875"/>
          </a:xfrm>
          <a:prstGeom prst="roundRect">
            <a:avLst>
              <a:gd name="adj" fmla="val 5333"/>
            </a:avLst>
          </a:prstGeom>
          <a:ln/>
          <a:effectLst>
            <a:outerShdw blurRad="228600" dist="57150" dir="5400000">
              <a:srgbClr val="33302E">
                <a:alpha val="15000"/>
              </a:srgbClr>
            </a:outerShdw>
          </a:effectLst>
        </p:spPr>
      </p:pic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8505825" y="5467350"/>
            <a:ext cx="1657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8580"/>
                </a:solidFill>
                <a:latin typeface="Microsoft YaHei"/>
                <a:ea typeface="Microsoft YaHei"/>
              </a:rPr>
              <a:t>青蛙跳跃</a:t>
            </a:r>
            <a:r>
              <a:rPr lang="en-US" sz="1200">
                <a:solidFill>
                  <a:srgbClr val="8A858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8A8580"/>
                </a:solidFill>
                <a:latin typeface="Microsoft YaHei"/>
                <a:ea typeface="Microsoft YaHei"/>
              </a:rPr>
              <a:t>荷塘换位挑战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0" y="649605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580"/>
                </a:solidFill>
                <a:latin typeface="Microsoft YaHei"/>
                <a:ea typeface="Microsoft YaHei"/>
              </a:rPr>
              <a:t>我和</a:t>
            </a:r>
            <a:r>
              <a:rPr lang="en-US" sz="1050">
                <a:solidFill>
                  <a:srgbClr val="8A858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A8580"/>
                </a:solidFill>
                <a:latin typeface="Microsoft YaHei"/>
                <a:ea typeface="Microsoft YaHei"/>
              </a:rPr>
              <a:t>一起学数学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117348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580"/>
                </a:solidFill>
                <a:latin typeface="Microsoft YaHei"/>
                <a:ea typeface="Microsoft YaHei"/>
              </a:rPr>
              <a:t>07 / 15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21" name="" descr="&lt;Slide style={{ width: 1280, height: 720, background: '#FFF8F0', fontFamily: &quot;'Microsoft YaHei', sans-serif&quot; }}&gt;&#10;  {/* A 标题块 */}&#10;  &lt;Box style={{ height: 120, paddingHorizontal: 60, paddingTop: 30, flexDirection: 'row', alignItems: 'center', gap: 18 }}&gt;&#10;    &lt;Box style={{ width: 8, height: 56, background: '#F97316', borderRadius: 4 }} /&gt;&#10;    &lt;Text style={{ fontSize: 38, fontWeight: 'bold', color: '#33302E' }}&gt;AI 是我的&quot;讲题老师&quot;&lt;/Text&gt;&#10;  &lt;/Box&gt;&#10;  {/* B 内容区 */}&#10;  &lt;Box style={{ height: 540, paddingHorizontal: 60, flexDirection: 'row', gap: 40, alignItems: 'center' }}&gt;&#10;    &lt;Box style={{ width: 600, flexDirection: 'column', alignItems: 'center', gap: 12 }}&gt;&#10;      &lt;Image src=&quot;assets/stones.png&quot; style={{ width: 600, height: 375, objectFit: 'cover', borderRadius: 20, boxShadow: '0 6px 24px rgba(51,48,46,0.15)' }} /&gt;&#10;      &lt;Text style={{ fontSize: 16, color: '#8A8580' }}&gt;奇偶棋子谜题 · 每行放偶数、每列放奇数&lt;/Text&gt;&#10;    &lt;/Box&gt;&#10;    &lt;Box style={{ flex: 1, flexDirection: 'column', gap: 22 }}&gt;&#10;      &lt;Text style={{ fontSize: 26, color: '#33302E', lineHeight: 1.55 }}&gt;&#10;        遇到不会做的题，AI 老师不是直接给答案，而是&lt;span style={{ fontWeight: 'bold', color: '#F97316' }}&gt;一步一步带我想&lt;/span&gt;：&#10;      &lt;/Text&gt;&#10;      &lt;Box style={{ background: 'rgba(43,179,163,0.10)', borderRadius: 16, padding: '16px 22px', flexDirection: 'row', alignItems: 'center', gap: 16 }}&gt;&#10;        &lt;Text style={{ fontSize: 30, fontWeight: 'bold', color: '#2BB3A3' }}&gt;1&lt;/Text&gt;&#10;        &lt;Text style={{ fontSize: 24, color: '#33302E', lineHeight: 1.45 }}&gt;先给一个小&lt;span style={{ fontWeight: 'bold' }}&gt;提示&lt;/span&gt;，让我自己再试试&lt;/Text&gt;&#10;      &lt;/Box&gt;&#10;      &lt;Box style={{ background: 'rgba(249,115,22,0.10)', borderRadius: 16, padding: '16px 22px', flexDirection: 'row', alignItems: 'center', gap: 16 }}&gt;&#10;        &lt;Text style={{ fontSize: 30, fontWeight: 'bold', color: '#F97316' }}&gt;2&lt;/Text&gt;&#10;        &lt;Text style={{ fontSize: 24, color: '#33302E', lineHeight: 1.45 }}&gt;还想不明白，它就给我&lt;span style={{ fontWeight: 'bold' }}&gt;讲思路和数学原理&lt;/span&gt;&lt;/Text&gt;&#10;      &lt;/Box&gt;&#10;      &lt;Box style={{ background: 'rgba(255,201,60,0.16)', borderRadius: 16, padding: '16px 22px', flexDirection: 'row', alignItems: 'center', gap: 16 }}&gt;&#10;        &lt;Text style={{ fontSize: 30, fontWeight: 'bold', color: '#F97316' }}&gt;3&lt;/Text&gt;&#10;        &lt;Text style={{ fontSize: 24, color: '#33302E', lineHeight: 1.45 }}&gt;实在做不出来，才&lt;span style={{ fontWeight: 'bold' }}&gt;演示最优解&lt;/span&gt;给我看&lt;/Text&gt;&#10;      &lt;/Box&gt;&#10;      &lt;Text style={{ fontSize: 26, color: '#33302E', lineHeight: 1.5 }}&gt;&#10;        答案是我自己想出来的，所以&lt;span style={{ fontWeight: 'bold', color: '#2BB3A3' }}&gt;记得特别牢&lt;/span&gt;！&#10;      &lt;/Text&gt;&#10;    &lt;/Box&gt;&#10;  &lt;/Box&gt;&#10;  {/* C 页脚条 */}&#10;  &lt;Box style={{ height: 60, paddingHorizontal: 60, flexDirection: 'row', alignItems: 'center', justifyContent: 'space-between' }}&gt;&#10;    &lt;Text style={{ fontSize: 14, color: '#8A8580' }}&gt;我和 AI 一起学数学&lt;/Text&gt;&#10;    &lt;Text style={{ fontSize: 14, color: '#8A8580' }}&gt;08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p/>
        </p:txBody>
      </p:sp>
      <p:sp>
        <p:nvSpPr>
          <p:cNvPr id="223" name=""/>
          <p:cNvSpPr/>
          <p:nvPr/>
        </p:nvSpPr>
        <p:spPr>
          <a:xfrm rot="0" flipH="0" flipV="0">
            <a:off x="0" y="447675"/>
            <a:ext cx="76200" cy="5334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247650" y="495300"/>
            <a:ext cx="341947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33302E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2850" b="1">
                <a:solidFill>
                  <a:srgbClr val="33302E"/>
                </a:solidFill>
                <a:latin typeface="Microsoft YaHei"/>
                <a:ea typeface="Microsoft YaHei"/>
              </a:rPr>
              <a:t>是我的</a:t>
            </a:r>
            <a:r>
              <a:rPr lang="en-US" sz="2850" b="1">
                <a:solidFill>
                  <a:srgbClr val="33302E"/>
                </a:solidFill>
                <a:latin typeface="Microsoft YaHei"/>
                <a:ea typeface="Microsoft YaHei"/>
              </a:rPr>
              <a:t>"</a:t>
            </a:r>
            <a:r>
              <a:rPr lang="zh-CN" sz="2850" b="1">
                <a:solidFill>
                  <a:srgbClr val="33302E"/>
                </a:solidFill>
                <a:latin typeface="Microsoft YaHei"/>
                <a:ea typeface="Microsoft YaHei"/>
              </a:rPr>
              <a:t>讲题老师</a:t>
            </a:r>
            <a:r>
              <a:rPr lang="en-US" sz="2850" b="1">
                <a:solidFill>
                  <a:srgbClr val="33302E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pic>
        <p:nvPicPr>
          <p:cNvPr id="225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1781175"/>
            <a:ext cx="5715000" cy="3571875"/>
          </a:xfrm>
          <a:prstGeom prst="roundRect">
            <a:avLst>
              <a:gd name="adj" fmla="val 5333"/>
            </a:avLst>
          </a:prstGeom>
          <a:ln/>
          <a:effectLst>
            <a:outerShdw blurRad="228600" dist="57150" dir="5400000">
              <a:srgbClr val="33302E">
                <a:alpha val="15000"/>
              </a:srgbClr>
            </a:outerShdw>
          </a:effectLst>
        </p:spPr>
      </p:pic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1495425" y="5467350"/>
            <a:ext cx="2724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8580"/>
                </a:solidFill>
                <a:latin typeface="Microsoft YaHei"/>
                <a:ea typeface="Microsoft YaHei"/>
              </a:rPr>
              <a:t>奇偶棋子谜题</a:t>
            </a:r>
            <a:r>
              <a:rPr lang="en-US" sz="1200">
                <a:solidFill>
                  <a:srgbClr val="8A858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8A8580"/>
                </a:solidFill>
                <a:latin typeface="Microsoft YaHei"/>
                <a:ea typeface="Microsoft YaHei"/>
              </a:rPr>
              <a:t>每行放偶数、每列放奇数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096000" y="1552575"/>
            <a:ext cx="6096000" cy="923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950">
                <a:solidFill>
                  <a:srgbClr val="33302E"/>
                </a:solidFill>
                <a:latin typeface="Microsoft YaHei"/>
                <a:ea typeface="Microsoft YaHei"/>
              </a:rPr>
              <a:t>遇到不会做的题，</a:t>
            </a:r>
            <a:r>
              <a:rPr lang="en-US" sz="1950">
                <a:solidFill>
                  <a:srgbClr val="33302E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950">
                <a:solidFill>
                  <a:srgbClr val="33302E"/>
                </a:solidFill>
                <a:latin typeface="Microsoft YaHei"/>
                <a:ea typeface="Microsoft YaHei"/>
              </a:rPr>
              <a:t>老师不是直接给答案，而是</a:t>
            </a:r>
            <a:r>
              <a:rPr lang="zh-CN" sz="1950" b="1">
                <a:solidFill>
                  <a:srgbClr val="F97316"/>
                </a:solidFill>
                <a:latin typeface="Microsoft YaHei"/>
                <a:ea typeface="Microsoft YaHei"/>
              </a:rPr>
              <a:t>一步一步带我想</a:t>
            </a:r>
            <a:r>
              <a:rPr lang="zh-CN" sz="1950">
                <a:solidFill>
                  <a:srgbClr val="33302E"/>
                </a:solidFill>
                <a:latin typeface="Microsoft YaHei"/>
                <a:ea typeface="Microsoft YaHei"/>
              </a:rPr>
              <a:t>：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6096000" y="2686050"/>
            <a:ext cx="6096000" cy="704850"/>
          </a:xfrm>
          <a:prstGeom prst="roundRect">
            <a:avLst>
              <a:gd name="adj" fmla="val 21622"/>
            </a:avLst>
          </a:prstGeom>
          <a:solidFill>
            <a:srgbClr val="2BB3A3">
              <a:alpha val="10000"/>
            </a:srgbClr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305550" y="2867025"/>
            <a:ext cx="1809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BB3A3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6638925" y="2838450"/>
            <a:ext cx="3429000" cy="4000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>
                <a:solidFill>
                  <a:srgbClr val="33302E"/>
                </a:solidFill>
                <a:latin typeface="Microsoft YaHei"/>
                <a:ea typeface="Microsoft YaHei"/>
              </a:rPr>
              <a:t>先给一个小</a:t>
            </a:r>
            <a:r>
              <a:rPr lang="zh-CN" sz="1800" b="1">
                <a:solidFill>
                  <a:srgbClr val="33302E"/>
                </a:solidFill>
                <a:latin typeface="Microsoft YaHei"/>
                <a:ea typeface="Microsoft YaHei"/>
              </a:rPr>
              <a:t>提示</a:t>
            </a:r>
            <a:r>
              <a:rPr lang="zh-CN" sz="1800">
                <a:solidFill>
                  <a:srgbClr val="33302E"/>
                </a:solidFill>
                <a:latin typeface="Microsoft YaHei"/>
                <a:ea typeface="Microsoft YaHei"/>
              </a:rPr>
              <a:t>，让我自己再试试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6096000" y="3600450"/>
            <a:ext cx="6096000" cy="704850"/>
          </a:xfrm>
          <a:prstGeom prst="roundRect">
            <a:avLst>
              <a:gd name="adj" fmla="val 21622"/>
            </a:avLst>
          </a:prstGeom>
          <a:solidFill>
            <a:srgbClr val="F97316">
              <a:alpha val="10000"/>
            </a:srgbClr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305550" y="3781425"/>
            <a:ext cx="1809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97316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638925" y="3752850"/>
            <a:ext cx="4114800" cy="4000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>
                <a:solidFill>
                  <a:srgbClr val="33302E"/>
                </a:solidFill>
                <a:latin typeface="Microsoft YaHei"/>
                <a:ea typeface="Microsoft YaHei"/>
              </a:rPr>
              <a:t>还想不明白，它就给我</a:t>
            </a:r>
            <a:r>
              <a:rPr lang="zh-CN" sz="1800" b="1">
                <a:solidFill>
                  <a:srgbClr val="33302E"/>
                </a:solidFill>
                <a:latin typeface="Microsoft YaHei"/>
                <a:ea typeface="Microsoft YaHei"/>
              </a:rPr>
              <a:t>讲思路和数学原理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6096000" y="4514850"/>
            <a:ext cx="6096000" cy="704850"/>
          </a:xfrm>
          <a:prstGeom prst="roundRect">
            <a:avLst>
              <a:gd name="adj" fmla="val 21622"/>
            </a:avLst>
          </a:prstGeom>
          <a:solidFill>
            <a:srgbClr val="FFC93C">
              <a:alpha val="16000"/>
            </a:srgbClr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305550" y="4695825"/>
            <a:ext cx="1809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97316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638925" y="4667250"/>
            <a:ext cx="3657600" cy="4000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>
                <a:solidFill>
                  <a:srgbClr val="33302E"/>
                </a:solidFill>
                <a:latin typeface="Microsoft YaHei"/>
                <a:ea typeface="Microsoft YaHei"/>
              </a:rPr>
              <a:t>实在做不出来，才</a:t>
            </a:r>
            <a:r>
              <a:rPr lang="zh-CN" sz="1800" b="1">
                <a:solidFill>
                  <a:srgbClr val="33302E"/>
                </a:solidFill>
                <a:latin typeface="Microsoft YaHei"/>
                <a:ea typeface="Microsoft YaHei"/>
              </a:rPr>
              <a:t>演示最优解</a:t>
            </a:r>
            <a:r>
              <a:rPr lang="zh-CN" sz="1800">
                <a:solidFill>
                  <a:srgbClr val="33302E"/>
                </a:solidFill>
                <a:latin typeface="Microsoft YaHei"/>
                <a:ea typeface="Microsoft YaHei"/>
              </a:rPr>
              <a:t>给我看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096000" y="5429250"/>
            <a:ext cx="60960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33302E"/>
                </a:solidFill>
                <a:latin typeface="Microsoft YaHei"/>
                <a:ea typeface="Microsoft YaHei"/>
              </a:rPr>
              <a:t>答案是我自己想出来的，所以</a:t>
            </a:r>
            <a:r>
              <a:rPr lang="zh-CN" sz="1950" b="1">
                <a:solidFill>
                  <a:srgbClr val="2BB3A3"/>
                </a:solidFill>
                <a:latin typeface="Microsoft YaHei"/>
                <a:ea typeface="Microsoft YaHei"/>
              </a:rPr>
              <a:t>记得特别牢</a:t>
            </a:r>
            <a:r>
              <a:rPr lang="zh-CN" sz="1950">
                <a:solidFill>
                  <a:srgbClr val="33302E"/>
                </a:solidFill>
                <a:latin typeface="Microsoft YaHei"/>
                <a:ea typeface="Microsoft YaHei"/>
              </a:rPr>
              <a:t>！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0" y="649605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580"/>
                </a:solidFill>
                <a:latin typeface="Microsoft YaHei"/>
                <a:ea typeface="Microsoft YaHei"/>
              </a:rPr>
              <a:t>我和</a:t>
            </a:r>
            <a:r>
              <a:rPr lang="en-US" sz="1050">
                <a:solidFill>
                  <a:srgbClr val="8A858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A8580"/>
                </a:solidFill>
                <a:latin typeface="Microsoft YaHei"/>
                <a:ea typeface="Microsoft YaHei"/>
              </a:rPr>
              <a:t>一起学数学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17348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580"/>
                </a:solidFill>
                <a:latin typeface="Microsoft YaHei"/>
                <a:ea typeface="Microsoft YaHei"/>
              </a:rPr>
              <a:t>08 / 15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40" name="" descr="&lt;Slide style={{ width: 1280, height: 720, background: '#FFF8F0', fontFamily: &quot;'Microsoft YaHei', sans-serif&quot; }}&gt;&#10;  {/* A 标题块 */}&#10;  &lt;Box style={{ height: 120, paddingHorizontal: 60, paddingTop: 30, flexDirection: 'row', alignItems: 'center', gap: 18 }}&gt;&#10;    &lt;Box style={{ width: 8, height: 56, background: '#F97316', borderRadius: 4 }} /&gt;&#10;    &lt;Text style={{ fontSize: 38, fontWeight: 'bold', color: '#33302E' }}&gt;AI 还是我的&quot;出题官&quot;&lt;/Text&gt;&#10;  &lt;/Box&gt;&#10;  {/* B 内容区 */}&#10;  &lt;Box style={{ height: 540, paddingHorizontal: 60, flexDirection: 'row', gap: 40, alignItems: 'center' }}&gt;&#10;    &lt;Box style={{ flex: 1, flexDirection: 'column', gap: 22 }}&gt;&#10;      &lt;Text style={{ fontSize: 26, color: '#33302E', lineHeight: 1.55 }}&gt;&#10;        练习题永远做不完？让 AI 当出题官！它做的&lt;span style={{ fontWeight: 'bold', color: '#F97316' }}&gt;方程出题器&lt;/span&gt;可以：&#10;      &lt;/Text&gt;&#10;      &lt;Box style={{ background: 'rgba(43,179,163,0.10)', borderRadius: 16, padding: '16px 22px', flexDirection: 'row', alignItems: 'center', gap: 16 }}&gt;&#10;        &lt;Text style={{ fontSize: 34, fontWeight: 'bold', color: '#2BB3A3' }}&gt;🎲&lt;/Text&gt;&#10;        &lt;Text style={{ fontSize: 24, color: '#33302E', lineHeight: 1.45 }}&gt;想要几道题就出几道，&lt;span style={{ fontWeight: 'bold' }}&gt;永远不重复&lt;/span&gt;&lt;/Text&gt;&#10;      &lt;/Box&gt;&#10;      &lt;Box style={{ background: 'rgba(249,115,22,0.10)', borderRadius: 16, padding: '16px 22px', flexDirection: 'row', alignItems: 'center', gap: 16 }}&gt;&#10;        &lt;Text style={{ fontSize: 34, fontWeight: 'bold', color: '#F97316' }}&gt;📈&lt;/Text&gt;&#10;        &lt;Text style={{ fontSize: 24, color: '#33302E', lineHeight: 1.45 }}&gt;难度我自己选：&lt;span style={{ fontWeight: 'bold' }}&gt;从简单到&quot;进阶复杂型&quot;&lt;/span&gt;&lt;/Text&gt;&#10;      &lt;/Box&gt;&#10;      &lt;Box style={{ background: 'rgba(255,201,60,0.16)', borderRadius: 16, padding: '16px 22px', flexDirection: 'row', alignItems: 'center', gap: 16 }}&gt;&#10;        &lt;Text style={{ fontSize: 34, fontWeight: 'bold', color: '#F97316' }}&gt;🖨️&lt;/Text&gt;&#10;        &lt;Text style={{ fontSize: 24, color: '#33302E', lineHeight: 1.45 }}&gt;一键&lt;span style={{ fontWeight: 'bold' }}&gt;生成试卷打印出来&lt;/span&gt;，像小老师一样考我&lt;/Text&gt;&#10;      &lt;/Box&gt;&#10;      &lt;Text style={{ fontSize: 26, color: '#33302E', lineHeight: 1.5 }}&gt;&#10;        每天一张小卷子，我的&lt;span style={{ fontWeight: 'bold', color: '#2BB3A3' }}&gt;方程&lt;/span&gt;越解越快！&#10;      &lt;/Text&gt;&#10;    &lt;/Box&gt;&#10;    &lt;Box style={{ width: 600, flexDirection: 'column', alignItems: 'center', gap: 12 }}&gt;&#10;      &lt;Image src=&quot;assets/linear.png&quot; style={{ width: 600, height: 375, objectFit: 'cover', borderRadius: 20, boxShadow: '0 6px 24px rgba(51,48,46,0.15)' }} /&gt;&#10;      &lt;Text style={{ fontSize: 16, color: '#8A8580' }}&gt;AI 生成的方程出题器：左边设难度，右边出试卷&lt;/Text&gt;&#10;    &lt;/Box&gt;&#10;  &lt;/Box&gt;&#10;  {/* C 页脚条 */}&#10;  &lt;Box style={{ height: 60, paddingHorizontal: 60, flexDirection: 'row', alignItems: 'center', justifyContent: 'space-between' }}&gt;&#10;    &lt;Text style={{ fontSize: 14, color: '#8A8580' }}&gt;我和 AI 一起学数学&lt;/Text&gt;&#10;    &lt;Text style={{ fontSize: 14, color: '#8A8580' }}&gt;09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p/>
        </p:txBody>
      </p:sp>
      <p:sp>
        <p:nvSpPr>
          <p:cNvPr id="242" name=""/>
          <p:cNvSpPr/>
          <p:nvPr/>
        </p:nvSpPr>
        <p:spPr>
          <a:xfrm rot="0" flipH="0" flipV="0">
            <a:off x="0" y="447675"/>
            <a:ext cx="76200" cy="5334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247650" y="495300"/>
            <a:ext cx="341947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33302E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2850" b="1">
                <a:solidFill>
                  <a:srgbClr val="33302E"/>
                </a:solidFill>
                <a:latin typeface="Microsoft YaHei"/>
                <a:ea typeface="Microsoft YaHei"/>
              </a:rPr>
              <a:t>还是我的</a:t>
            </a:r>
            <a:r>
              <a:rPr lang="en-US" sz="2850" b="1">
                <a:solidFill>
                  <a:srgbClr val="33302E"/>
                </a:solidFill>
                <a:latin typeface="Microsoft YaHei"/>
                <a:ea typeface="Microsoft YaHei"/>
              </a:rPr>
              <a:t>"</a:t>
            </a:r>
            <a:r>
              <a:rPr lang="zh-CN" sz="2850" b="1">
                <a:solidFill>
                  <a:srgbClr val="33302E"/>
                </a:solidFill>
                <a:latin typeface="Microsoft YaHei"/>
                <a:ea typeface="Microsoft YaHei"/>
              </a:rPr>
              <a:t>出题官</a:t>
            </a:r>
            <a:r>
              <a:rPr lang="en-US" sz="2850" b="1">
                <a:solidFill>
                  <a:srgbClr val="33302E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0" y="1552575"/>
            <a:ext cx="6096000" cy="923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950">
                <a:solidFill>
                  <a:srgbClr val="33302E"/>
                </a:solidFill>
                <a:latin typeface="Microsoft YaHei"/>
                <a:ea typeface="Microsoft YaHei"/>
              </a:rPr>
              <a:t>练习题永远做不完？让</a:t>
            </a:r>
            <a:r>
              <a:rPr lang="en-US" sz="1950">
                <a:solidFill>
                  <a:srgbClr val="33302E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950">
                <a:solidFill>
                  <a:srgbClr val="33302E"/>
                </a:solidFill>
                <a:latin typeface="Microsoft YaHei"/>
                <a:ea typeface="Microsoft YaHei"/>
              </a:rPr>
              <a:t>当出题官！它做的</a:t>
            </a:r>
            <a:r>
              <a:rPr lang="zh-CN" sz="1950" b="1">
                <a:solidFill>
                  <a:srgbClr val="F97316"/>
                </a:solidFill>
                <a:latin typeface="Microsoft YaHei"/>
                <a:ea typeface="Microsoft YaHei"/>
              </a:rPr>
              <a:t>方程出题器</a:t>
            </a:r>
            <a:r>
              <a:rPr lang="zh-CN" sz="1950">
                <a:solidFill>
                  <a:srgbClr val="33302E"/>
                </a:solidFill>
                <a:latin typeface="Microsoft YaHei"/>
                <a:ea typeface="Microsoft YaHei"/>
              </a:rPr>
              <a:t>可以：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0" y="2686050"/>
            <a:ext cx="6096000" cy="704850"/>
          </a:xfrm>
          <a:prstGeom prst="roundRect">
            <a:avLst>
              <a:gd name="adj" fmla="val 21622"/>
            </a:avLst>
          </a:prstGeom>
          <a:solidFill>
            <a:srgbClr val="2BB3A3">
              <a:alpha val="10000"/>
            </a:srgbClr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209550" y="2847975"/>
            <a:ext cx="4476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550" b="1">
                <a:solidFill>
                  <a:srgbClr val="2BB3A3"/>
                </a:solidFill>
                <a:latin typeface="Microsoft YaHei"/>
                <a:ea typeface="Microsoft YaHei"/>
              </a:rPr>
              <a:t>🎲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809625" y="2838450"/>
            <a:ext cx="3429000" cy="4000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>
                <a:solidFill>
                  <a:srgbClr val="33302E"/>
                </a:solidFill>
                <a:latin typeface="Microsoft YaHei"/>
                <a:ea typeface="Microsoft YaHei"/>
              </a:rPr>
              <a:t>想要几道题就出几道，</a:t>
            </a:r>
            <a:r>
              <a:rPr lang="zh-CN" sz="1800" b="1">
                <a:solidFill>
                  <a:srgbClr val="33302E"/>
                </a:solidFill>
                <a:latin typeface="Microsoft YaHei"/>
                <a:ea typeface="Microsoft YaHei"/>
              </a:rPr>
              <a:t>永远不重复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0" y="3600450"/>
            <a:ext cx="6096000" cy="704850"/>
          </a:xfrm>
          <a:prstGeom prst="roundRect">
            <a:avLst>
              <a:gd name="adj" fmla="val 21622"/>
            </a:avLst>
          </a:prstGeom>
          <a:solidFill>
            <a:srgbClr val="F97316">
              <a:alpha val="10000"/>
            </a:srgbClr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209550" y="3762375"/>
            <a:ext cx="4476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550" b="1">
                <a:solidFill>
                  <a:srgbClr val="F97316"/>
                </a:solidFill>
                <a:latin typeface="Microsoft YaHei"/>
                <a:ea typeface="Microsoft YaHei"/>
              </a:rPr>
              <a:t>📈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809625" y="3752850"/>
            <a:ext cx="3905250" cy="4000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>
                <a:solidFill>
                  <a:srgbClr val="33302E"/>
                </a:solidFill>
                <a:latin typeface="Microsoft YaHei"/>
                <a:ea typeface="Microsoft YaHei"/>
              </a:rPr>
              <a:t>难度我自己选：</a:t>
            </a:r>
            <a:r>
              <a:rPr lang="zh-CN" sz="1800" b="1">
                <a:solidFill>
                  <a:srgbClr val="33302E"/>
                </a:solidFill>
                <a:latin typeface="Microsoft YaHei"/>
                <a:ea typeface="Microsoft YaHei"/>
              </a:rPr>
              <a:t>从简单到</a:t>
            </a:r>
            <a:r>
              <a:rPr lang="en-US" sz="1800" b="1">
                <a:solidFill>
                  <a:srgbClr val="33302E"/>
                </a:solidFill>
                <a:latin typeface="Microsoft YaHei"/>
                <a:ea typeface="Microsoft YaHei"/>
              </a:rPr>
              <a:t>"</a:t>
            </a:r>
            <a:r>
              <a:rPr lang="zh-CN" sz="1800" b="1">
                <a:solidFill>
                  <a:srgbClr val="33302E"/>
                </a:solidFill>
                <a:latin typeface="Microsoft YaHei"/>
                <a:ea typeface="Microsoft YaHei"/>
              </a:rPr>
              <a:t>进阶复杂型</a:t>
            </a:r>
            <a:r>
              <a:rPr lang="en-US" sz="1800" b="1">
                <a:solidFill>
                  <a:srgbClr val="33302E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0" y="4514850"/>
            <a:ext cx="6096000" cy="704850"/>
          </a:xfrm>
          <a:prstGeom prst="roundRect">
            <a:avLst>
              <a:gd name="adj" fmla="val 21622"/>
            </a:avLst>
          </a:prstGeom>
          <a:solidFill>
            <a:srgbClr val="FFC93C">
              <a:alpha val="16000"/>
            </a:srgbClr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209550" y="4676775"/>
            <a:ext cx="4476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550" b="1">
                <a:solidFill>
                  <a:srgbClr val="F97316"/>
                </a:solidFill>
                <a:latin typeface="Microsoft YaHei"/>
                <a:ea typeface="Microsoft YaHei"/>
              </a:rPr>
              <a:t>🖨️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809625" y="4667250"/>
            <a:ext cx="4343400" cy="4000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>
                <a:solidFill>
                  <a:srgbClr val="33302E"/>
                </a:solidFill>
                <a:latin typeface="Microsoft YaHei"/>
                <a:ea typeface="Microsoft YaHei"/>
              </a:rPr>
              <a:t>一键</a:t>
            </a:r>
            <a:r>
              <a:rPr lang="zh-CN" sz="1800" b="1">
                <a:solidFill>
                  <a:srgbClr val="33302E"/>
                </a:solidFill>
                <a:latin typeface="Microsoft YaHei"/>
                <a:ea typeface="Microsoft YaHei"/>
              </a:rPr>
              <a:t>生成试卷打印出来</a:t>
            </a:r>
            <a:r>
              <a:rPr lang="zh-CN" sz="1800">
                <a:solidFill>
                  <a:srgbClr val="33302E"/>
                </a:solidFill>
                <a:latin typeface="Microsoft YaHei"/>
                <a:ea typeface="Microsoft YaHei"/>
              </a:rPr>
              <a:t>，像小老师一样考我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0" y="5429250"/>
            <a:ext cx="60960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33302E"/>
                </a:solidFill>
                <a:latin typeface="Microsoft YaHei"/>
                <a:ea typeface="Microsoft YaHei"/>
              </a:rPr>
              <a:t>每天一张小卷子，我的</a:t>
            </a:r>
            <a:r>
              <a:rPr lang="zh-CN" sz="1950" b="1">
                <a:solidFill>
                  <a:srgbClr val="2BB3A3"/>
                </a:solidFill>
                <a:latin typeface="Microsoft YaHei"/>
                <a:ea typeface="Microsoft YaHei"/>
              </a:rPr>
              <a:t>方程</a:t>
            </a:r>
            <a:r>
              <a:rPr lang="zh-CN" sz="1950">
                <a:solidFill>
                  <a:srgbClr val="33302E"/>
                </a:solidFill>
                <a:latin typeface="Microsoft YaHei"/>
                <a:ea typeface="Microsoft YaHei"/>
              </a:rPr>
              <a:t>越解越快！</a:t>
            </a:r>
            <a:endParaRPr/>
          </a:p>
        </p:txBody>
      </p:sp>
      <p:pic>
        <p:nvPicPr>
          <p:cNvPr id="255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6477000" y="1781175"/>
            <a:ext cx="5715000" cy="3571875"/>
          </a:xfrm>
          <a:prstGeom prst="roundRect">
            <a:avLst>
              <a:gd name="adj" fmla="val 5333"/>
            </a:avLst>
          </a:prstGeom>
          <a:ln/>
          <a:effectLst>
            <a:outerShdw blurRad="228600" dist="57150" dir="5400000">
              <a:srgbClr val="33302E">
                <a:alpha val="15000"/>
              </a:srgbClr>
            </a:outerShdw>
          </a:effectLst>
        </p:spPr>
      </p:pic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7715250" y="5467350"/>
            <a:ext cx="3248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A858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00">
                <a:solidFill>
                  <a:srgbClr val="8A8580"/>
                </a:solidFill>
                <a:latin typeface="Microsoft YaHei"/>
                <a:ea typeface="Microsoft YaHei"/>
              </a:rPr>
              <a:t>生成的方程出题器：左边设难度，右边出试卷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0" y="649605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580"/>
                </a:solidFill>
                <a:latin typeface="Microsoft YaHei"/>
                <a:ea typeface="Microsoft YaHei"/>
              </a:rPr>
              <a:t>我和</a:t>
            </a:r>
            <a:r>
              <a:rPr lang="en-US" sz="1050">
                <a:solidFill>
                  <a:srgbClr val="8A858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A8580"/>
                </a:solidFill>
                <a:latin typeface="Microsoft YaHei"/>
                <a:ea typeface="Microsoft YaHei"/>
              </a:rPr>
              <a:t>一起学数学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17348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580"/>
                </a:solidFill>
                <a:latin typeface="Microsoft YaHei"/>
                <a:ea typeface="Microsoft YaHei"/>
              </a:rPr>
              <a:t>09 / 15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2" name="" descr="&lt;Slide style={{ width: 1280, height: 720, background: '#FFF8F0', fontFamily: &quot;'Microsoft YaHei', sans-serif&quot; }}&gt;&#10;  {/* A 标题块 */}&#10;  &lt;Box style={{ height: 120, paddingHorizontal: 60, paddingTop: 30, flexDirection: 'row', alignItems: 'center', gap: 18 }}&gt;&#10;    &lt;Box style={{ width: 8, height: 56, background: '#F97316', borderRadius: 4 }} /&gt;&#10;    &lt;Text style={{ fontSize: 38, fontWeight: 'bold', color: '#33302E' }}&gt;AI 帮我练&quot;动脑筋&quot;的本领&lt;/Text&gt;&#10;  &lt;/Box&gt;&#10;  {/* B 内容区 */}&#10;  &lt;Box style={{ height: 540, paddingHorizontal: 60, flexDirection: 'row', gap: 28, alignItems: 'center' }}&gt;&#10;    &lt;Box style={{ flex: 1, height: 500, background: '#FFFFFF', borderRadius: 20, padding: 24, boxShadow: '0 6px 24px rgba(51,48,46,0.10)', flexDirection: 'column' }}&gt;&#10;      &lt;Text style={{ fontSize: 28, fontWeight: 'bold', color: '#2BB3A3' }}&gt;机车调度 · 学&quot;排序&quot;&lt;/Text&gt;&#10;      &lt;Image src=&quot;assets/train.png&quot; style={{ width: 512, height: 320, objectFit: 'cover', borderRadius: 14, marginTop: 14 }} /&gt;&#10;      &lt;Text style={{ fontSize: 23, color: '#33302E', lineHeight: 1.5, marginTop: 14 }}&gt;&#10;        8 辆小机车乱成一团，我要让它们按 1-8 乖乖排队，还不能对向相撞！&#10;      &lt;/Text&gt;&#10;    &lt;/Box&gt;&#10;    &lt;Box style={{ flex: 1, height: 500, background: '#FFFFFF', borderRadius: 20, padding: 24, boxShadow: '0 6px 24px rgba(51,48,46,0.10)', flexDirection: 'column' }}&gt;&#10;      &lt;Text style={{ fontSize: 28, fontWeight: 'bold', color: '#F97316' }}&gt;烙饼游戏 · 学&quot;统筹&quot;&lt;/Text&gt;&#10;      &lt;Image src=&quot;assets/cookcake.png&quot; style={{ width: 512, height: 320, objectFit: 'cover', borderRadius: 14, marginTop: 14 }} /&gt;&#10;      &lt;Text style={{ fontSize: 23, color: '#33302E', lineHeight: 1.5, marginTop: 14 }}&gt;&#10;        一口锅一次只能烙 2 张饼，怎么安排才能让时间最短？这可是大数学问！&#10;      &lt;/Text&gt;&#10;    &lt;/Box&gt;&#10;  &lt;/Box&gt;&#10;  {/* C 页脚条 */}&#10;  &lt;Box style={{ height: 60, paddingHorizontal: 60, flexDirection: 'row', alignItems: 'center', justifyContent: 'space-between' }}&gt;&#10;    &lt;Text style={{ fontSize: 14, color: '#8A8580' }}&gt;我和 AI 一起学数学&lt;/Text&gt;&#10;    &lt;Text style={{ fontSize: 14, color: '#8A8580' }}&gt;10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p/>
        </p:txBody>
      </p:sp>
      <p:sp>
        <p:nvSpPr>
          <p:cNvPr id="14" name=""/>
          <p:cNvSpPr/>
          <p:nvPr/>
        </p:nvSpPr>
        <p:spPr>
          <a:xfrm rot="0" flipH="0" flipV="0">
            <a:off x="0" y="447675"/>
            <a:ext cx="76200" cy="5334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247650" y="495300"/>
            <a:ext cx="414337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33302E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2850" b="1">
                <a:solidFill>
                  <a:srgbClr val="33302E"/>
                </a:solidFill>
                <a:latin typeface="Microsoft YaHei"/>
                <a:ea typeface="Microsoft YaHei"/>
              </a:rPr>
              <a:t>帮我练</a:t>
            </a:r>
            <a:r>
              <a:rPr lang="en-US" sz="2850" b="1">
                <a:solidFill>
                  <a:srgbClr val="33302E"/>
                </a:solidFill>
                <a:latin typeface="Microsoft YaHei"/>
                <a:ea typeface="Microsoft YaHei"/>
              </a:rPr>
              <a:t>"</a:t>
            </a:r>
            <a:r>
              <a:rPr lang="zh-CN" sz="2850" b="1">
                <a:solidFill>
                  <a:srgbClr val="33302E"/>
                </a:solidFill>
                <a:latin typeface="Microsoft YaHei"/>
                <a:ea typeface="Microsoft YaHei"/>
              </a:rPr>
              <a:t>动脑筋</a:t>
            </a:r>
            <a:r>
              <a:rPr lang="en-US" sz="2850" b="1">
                <a:solidFill>
                  <a:srgbClr val="33302E"/>
                </a:solidFill>
                <a:latin typeface="Microsoft YaHei"/>
                <a:ea typeface="Microsoft YaHei"/>
              </a:rPr>
              <a:t>"</a:t>
            </a:r>
            <a:r>
              <a:rPr lang="zh-CN" sz="2850" b="1">
                <a:solidFill>
                  <a:srgbClr val="33302E"/>
                </a:solidFill>
                <a:latin typeface="Microsoft YaHei"/>
                <a:ea typeface="Microsoft YaHei"/>
              </a:rPr>
              <a:t>的本领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0" y="1333500"/>
            <a:ext cx="5962650" cy="4762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33302E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228600" y="1562100"/>
            <a:ext cx="55054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2BB3A3"/>
                </a:solidFill>
                <a:latin typeface="Microsoft YaHei"/>
                <a:ea typeface="Microsoft YaHei"/>
              </a:rPr>
              <a:t>机车调度</a:t>
            </a:r>
            <a:r>
              <a:rPr lang="en-US" sz="2100" b="1">
                <a:solidFill>
                  <a:srgbClr val="2BB3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100" b="1">
                <a:solidFill>
                  <a:srgbClr val="2BB3A3"/>
                </a:solidFill>
                <a:latin typeface="Microsoft YaHei"/>
                <a:ea typeface="Microsoft YaHei"/>
              </a:rPr>
              <a:t>学</a:t>
            </a:r>
            <a:r>
              <a:rPr lang="en-US" sz="2100" b="1">
                <a:solidFill>
                  <a:srgbClr val="2BB3A3"/>
                </a:solidFill>
                <a:latin typeface="Microsoft YaHei"/>
                <a:ea typeface="Microsoft YaHei"/>
              </a:rPr>
              <a:t>"</a:t>
            </a:r>
            <a:r>
              <a:rPr lang="zh-CN" sz="2100" b="1">
                <a:solidFill>
                  <a:srgbClr val="2BB3A3"/>
                </a:solidFill>
                <a:latin typeface="Microsoft YaHei"/>
                <a:ea typeface="Microsoft YaHei"/>
              </a:rPr>
              <a:t>排序</a:t>
            </a:r>
            <a:r>
              <a:rPr lang="en-US" sz="2100" b="1">
                <a:solidFill>
                  <a:srgbClr val="2BB3A3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pic>
        <p:nvPicPr>
          <p:cNvPr id="18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228600" y="2019300"/>
            <a:ext cx="4876800" cy="3048000"/>
          </a:xfrm>
          <a:prstGeom prst="roundRect">
            <a:avLst>
              <a:gd name="adj" fmla="val 4375"/>
            </a:avLst>
          </a:prstGeom>
          <a:ln/>
        </p:spPr>
      </p:pic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228600" y="5200650"/>
            <a:ext cx="5505450" cy="790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725">
                <a:solidFill>
                  <a:srgbClr val="33302E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1725">
                <a:solidFill>
                  <a:srgbClr val="33302E"/>
                </a:solidFill>
                <a:latin typeface="Microsoft YaHei"/>
                <a:ea typeface="Microsoft YaHei"/>
              </a:rPr>
              <a:t>辆小机车乱成一团，我要让它们按</a:t>
            </a:r>
            <a:r>
              <a:rPr lang="en-US" sz="1725">
                <a:solidFill>
                  <a:srgbClr val="33302E"/>
                </a:solidFill>
                <a:latin typeface="Microsoft YaHei"/>
                <a:ea typeface="Microsoft YaHei"/>
              </a:rPr>
              <a:t xml:space="preserve"> 1-8 </a:t>
            </a:r>
            <a:r>
              <a:rPr lang="zh-CN" sz="1725">
                <a:solidFill>
                  <a:srgbClr val="33302E"/>
                </a:solidFill>
                <a:latin typeface="Microsoft YaHei"/>
                <a:ea typeface="Microsoft YaHei"/>
              </a:rPr>
              <a:t>乖乖排队，还不能对向相撞！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6229350" y="1333500"/>
            <a:ext cx="5962650" cy="4762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33302E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457950" y="1562100"/>
            <a:ext cx="55054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97316"/>
                </a:solidFill>
                <a:latin typeface="Microsoft YaHei"/>
                <a:ea typeface="Microsoft YaHei"/>
              </a:rPr>
              <a:t>烙饼游戏</a:t>
            </a:r>
            <a:r>
              <a:rPr lang="en-US" sz="2100" b="1">
                <a:solidFill>
                  <a:srgbClr val="F9731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100" b="1">
                <a:solidFill>
                  <a:srgbClr val="F97316"/>
                </a:solidFill>
                <a:latin typeface="Microsoft YaHei"/>
                <a:ea typeface="Microsoft YaHei"/>
              </a:rPr>
              <a:t>学</a:t>
            </a:r>
            <a:r>
              <a:rPr lang="en-US" sz="2100" b="1">
                <a:solidFill>
                  <a:srgbClr val="F97316"/>
                </a:solidFill>
                <a:latin typeface="Microsoft YaHei"/>
                <a:ea typeface="Microsoft YaHei"/>
              </a:rPr>
              <a:t>"</a:t>
            </a:r>
            <a:r>
              <a:rPr lang="zh-CN" sz="2100" b="1">
                <a:solidFill>
                  <a:srgbClr val="F97316"/>
                </a:solidFill>
                <a:latin typeface="Microsoft YaHei"/>
                <a:ea typeface="Microsoft YaHei"/>
              </a:rPr>
              <a:t>统筹</a:t>
            </a:r>
            <a:r>
              <a:rPr lang="en-US" sz="2100" b="1">
                <a:solidFill>
                  <a:srgbClr val="F97316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pic>
        <p:nvPicPr>
          <p:cNvPr id="22" nam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0" flipH="0" flipV="0">
            <a:off x="6457950" y="2019300"/>
            <a:ext cx="4876800" cy="3048000"/>
          </a:xfrm>
          <a:prstGeom prst="roundRect">
            <a:avLst>
              <a:gd name="adj" fmla="val 4375"/>
            </a:avLst>
          </a:prstGeom>
          <a:ln/>
        </p:spPr>
      </p:pic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457950" y="5200650"/>
            <a:ext cx="5505450" cy="790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725">
                <a:solidFill>
                  <a:srgbClr val="33302E"/>
                </a:solidFill>
                <a:latin typeface="Microsoft YaHei"/>
                <a:ea typeface="Microsoft YaHei"/>
              </a:rPr>
              <a:t>一口锅一次只能烙</a:t>
            </a:r>
            <a:r>
              <a:rPr lang="en-US" sz="1725">
                <a:solidFill>
                  <a:srgbClr val="33302E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725">
                <a:solidFill>
                  <a:srgbClr val="33302E"/>
                </a:solidFill>
                <a:latin typeface="Microsoft YaHei"/>
                <a:ea typeface="Microsoft YaHei"/>
              </a:rPr>
              <a:t>张饼，怎么安排才能让时间最短？这可是大数学问！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0" y="649605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580"/>
                </a:solidFill>
                <a:latin typeface="Microsoft YaHei"/>
                <a:ea typeface="Microsoft YaHei"/>
              </a:rPr>
              <a:t>我和</a:t>
            </a:r>
            <a:r>
              <a:rPr lang="en-US" sz="1050">
                <a:solidFill>
                  <a:srgbClr val="8A858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A8580"/>
                </a:solidFill>
                <a:latin typeface="Microsoft YaHei"/>
                <a:ea typeface="Microsoft YaHei"/>
              </a:rPr>
              <a:t>一起学数学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117348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580"/>
                </a:solidFill>
                <a:latin typeface="Microsoft YaHei"/>
                <a:ea typeface="Microsoft YaHei"/>
              </a:rPr>
              <a:t>10 / 15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6" name="" descr="&lt;Slide style={{ width: 1280, height: 720, background: '#FFF8F0', fontFamily: &quot;'Microsoft YaHei', sans-serif&quot; }}&gt;&#10;  {/* A 标题块 */}&#10;  &lt;Box style={{ height: 120, paddingHorizontal: 60, paddingTop: 30, flexDirection: 'row', alignItems: 'center', gap: 18 }}&gt;&#10;    &lt;Box style={{ width: 8, height: 56, background: '#F97316', borderRadius: 4 }} /&gt;&#10;    &lt;Text style={{ fontSize: 38, fontWeight: 'bold', color: '#33302E' }}&gt;AI 还陪我学英语、认世界&lt;/Text&gt;&#10;  &lt;/Box&gt;&#10;  {/* B 内容区 */}&#10;  &lt;Box style={{ height: 540, paddingHorizontal: 60, flexDirection: 'row', gap: 28, alignItems: 'center' }}&gt;&#10;    &lt;Box style={{ flex: 1, height: 500, background: '#FFFFFF', borderRadius: 20, padding: 24, boxShadow: '0 6px 24px rgba(51,48,46,0.10)', flexDirection: 'column' }}&gt;&#10;      &lt;Text style={{ fontSize: 28, fontWeight: 'bold', color: '#F97316' }}&gt;数学英语一起学&lt;/Text&gt;&#10;      &lt;Image src=&quot;assets/matheng.png&quot; style={{ width: 512, height: 320, objectFit: 'cover', borderRadius: 14, marginTop: 14 }} /&gt;&#10;      &lt;Text style={{ fontSize: 23, color: '#33302E', lineHeight: 1.5, marginTop: 14 }}&gt;&#10;        加法是 addition、分数是 fraction……AI 把数学单词做成教学和测验两种模式。&#10;      &lt;/Text&gt;&#10;    &lt;/Box&gt;&#10;    &lt;Box style={{ flex: 1, height: 500, background: '#FFFFFF', borderRadius: 20, padding: 24, boxShadow: '0 6px 24px rgba(51,48,46,0.10)', flexDirection: 'column' }}&gt;&#10;      &lt;Text style={{ fontSize: 28, fontWeight: 'bold', color: '#2BB3A3' }}&gt;地图大作战 · 地理问答&lt;/Text&gt;&#10;      &lt;Image src=&quot;assets/mapgame.png&quot; style={{ width: 512, height: 320, objectFit: 'cover', borderRadius: 14, marginTop: 14 }} /&gt;&#10;      &lt;Text style={{ fontSize: 23, color: '#33302E', lineHeight: 1.5, marginTop: 14 }}&gt;&#10;        在地图上点一点，找省份、找首都，答对自动加分—— geography 也不怕啦！&#10;      &lt;/Text&gt;&#10;    &lt;/Box&gt;&#10;  &lt;/Box&gt;&#10;  {/* C 页脚条 */}&#10;  &lt;Box style={{ height: 60, paddingHorizontal: 60, flexDirection: 'row', alignItems: 'center', justifyContent: 'space-between' }}&gt;&#10;    &lt;Text style={{ fontSize: 14, color: '#8A8580' }}&gt;我和 AI 一起学数学&lt;/Text&gt;&#10;    &lt;Text style={{ fontSize: 14, color: '#8A8580' }}&gt;11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p/>
        </p:txBody>
      </p:sp>
      <p:sp>
        <p:nvSpPr>
          <p:cNvPr id="28" name=""/>
          <p:cNvSpPr/>
          <p:nvPr/>
        </p:nvSpPr>
        <p:spPr>
          <a:xfrm rot="0" flipH="0" flipV="0">
            <a:off x="0" y="447675"/>
            <a:ext cx="76200" cy="5334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247650" y="495300"/>
            <a:ext cx="412432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33302E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2850" b="1">
                <a:solidFill>
                  <a:srgbClr val="33302E"/>
                </a:solidFill>
                <a:latin typeface="Microsoft YaHei"/>
                <a:ea typeface="Microsoft YaHei"/>
              </a:rPr>
              <a:t>还陪我学英语、认世界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0" y="1333500"/>
            <a:ext cx="5962650" cy="4762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33302E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228600" y="1562100"/>
            <a:ext cx="55054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97316"/>
                </a:solidFill>
                <a:latin typeface="Microsoft YaHei"/>
                <a:ea typeface="Microsoft YaHei"/>
              </a:rPr>
              <a:t>数学英语一起学</a:t>
            </a:r>
            <a:endParaRPr/>
          </a:p>
        </p:txBody>
      </p:sp>
      <p:pic>
        <p:nvPicPr>
          <p:cNvPr id="32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228600" y="2019300"/>
            <a:ext cx="4876800" cy="3048000"/>
          </a:xfrm>
          <a:prstGeom prst="roundRect">
            <a:avLst>
              <a:gd name="adj" fmla="val 4375"/>
            </a:avLst>
          </a:prstGeom>
          <a:ln/>
        </p:spPr>
      </p:pic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228600" y="5200650"/>
            <a:ext cx="5505450" cy="790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725">
                <a:solidFill>
                  <a:srgbClr val="33302E"/>
                </a:solidFill>
                <a:latin typeface="Microsoft YaHei"/>
                <a:ea typeface="Microsoft YaHei"/>
              </a:rPr>
              <a:t>加法是</a:t>
            </a:r>
            <a:r>
              <a:rPr lang="en-US" sz="1725">
                <a:solidFill>
                  <a:srgbClr val="33302E"/>
                </a:solidFill>
                <a:latin typeface="Microsoft YaHei"/>
                <a:ea typeface="Microsoft YaHei"/>
              </a:rPr>
              <a:t xml:space="preserve"> addition</a:t>
            </a:r>
            <a:r>
              <a:rPr lang="zh-CN" sz="1725">
                <a:solidFill>
                  <a:srgbClr val="33302E"/>
                </a:solidFill>
                <a:latin typeface="Microsoft YaHei"/>
                <a:ea typeface="Microsoft YaHei"/>
              </a:rPr>
              <a:t>、分数是</a:t>
            </a:r>
            <a:r>
              <a:rPr lang="en-US" sz="1725">
                <a:solidFill>
                  <a:srgbClr val="33302E"/>
                </a:solidFill>
                <a:latin typeface="Microsoft YaHei"/>
                <a:ea typeface="Microsoft YaHei"/>
              </a:rPr>
              <a:t xml:space="preserve"> fraction……AI </a:t>
            </a:r>
            <a:r>
              <a:rPr lang="zh-CN" sz="1725">
                <a:solidFill>
                  <a:srgbClr val="33302E"/>
                </a:solidFill>
                <a:latin typeface="Microsoft YaHei"/>
                <a:ea typeface="Microsoft YaHei"/>
              </a:rPr>
              <a:t>把数学单词做成教学和测验两种模式。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6229350" y="1333500"/>
            <a:ext cx="5962650" cy="4762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33302E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457950" y="1562100"/>
            <a:ext cx="55054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2BB3A3"/>
                </a:solidFill>
                <a:latin typeface="Microsoft YaHei"/>
                <a:ea typeface="Microsoft YaHei"/>
              </a:rPr>
              <a:t>地图大作战</a:t>
            </a:r>
            <a:r>
              <a:rPr lang="en-US" sz="2100" b="1">
                <a:solidFill>
                  <a:srgbClr val="2BB3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100" b="1">
                <a:solidFill>
                  <a:srgbClr val="2BB3A3"/>
                </a:solidFill>
                <a:latin typeface="Microsoft YaHei"/>
                <a:ea typeface="Microsoft YaHei"/>
              </a:rPr>
              <a:t>地理问答</a:t>
            </a:r>
            <a:endParaRPr/>
          </a:p>
        </p:txBody>
      </p:sp>
      <p:pic>
        <p:nvPicPr>
          <p:cNvPr id="36" nam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0" flipH="0" flipV="0">
            <a:off x="6457950" y="2019300"/>
            <a:ext cx="4876800" cy="3048000"/>
          </a:xfrm>
          <a:prstGeom prst="roundRect">
            <a:avLst>
              <a:gd name="adj" fmla="val 4375"/>
            </a:avLst>
          </a:prstGeom>
          <a:ln/>
        </p:spPr>
      </p:pic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457950" y="5200650"/>
            <a:ext cx="5505450" cy="790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725">
                <a:solidFill>
                  <a:srgbClr val="33302E"/>
                </a:solidFill>
                <a:latin typeface="Microsoft YaHei"/>
                <a:ea typeface="Microsoft YaHei"/>
              </a:rPr>
              <a:t>在地图上点一点，找省份、找首都，答对自动加分——</a:t>
            </a:r>
            <a:r>
              <a:rPr lang="en-US" sz="1725">
                <a:solidFill>
                  <a:srgbClr val="33302E"/>
                </a:solidFill>
                <a:latin typeface="Microsoft YaHei"/>
                <a:ea typeface="Microsoft YaHei"/>
              </a:rPr>
              <a:t xml:space="preserve"> geography </a:t>
            </a:r>
            <a:r>
              <a:rPr lang="zh-CN" sz="1725">
                <a:solidFill>
                  <a:srgbClr val="33302E"/>
                </a:solidFill>
                <a:latin typeface="Microsoft YaHei"/>
                <a:ea typeface="Microsoft YaHei"/>
              </a:rPr>
              <a:t>也不怕啦！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0" y="649605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580"/>
                </a:solidFill>
                <a:latin typeface="Microsoft YaHei"/>
                <a:ea typeface="Microsoft YaHei"/>
              </a:rPr>
              <a:t>我和</a:t>
            </a:r>
            <a:r>
              <a:rPr lang="en-US" sz="1050">
                <a:solidFill>
                  <a:srgbClr val="8A858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A8580"/>
                </a:solidFill>
                <a:latin typeface="Microsoft YaHei"/>
                <a:ea typeface="Microsoft YaHei"/>
              </a:rPr>
              <a:t>一起学数学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17348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580"/>
                </a:solidFill>
                <a:latin typeface="Microsoft YaHei"/>
                <a:ea typeface="Microsoft YaHei"/>
              </a:rPr>
              <a:t>11 / 15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40" name="" descr="&lt;Slide style={{ width: 1280, height: 720, background: '#FFF8F0', fontFamily: &quot;'Microsoft YaHei', sans-serif&quot; }}&gt;&#10;  {/* A 标题块 */}&#10;  &lt;Box style={{ height: 120, paddingHorizontal: 60, paddingTop: 30, flexDirection: 'row', alignItems: 'center', gap: 18 }}&gt;&#10;    &lt;Box style={{ width: 8, height: 56, background: '#F97316', borderRadius: 4 }} /&gt;&#10;    &lt;Text style={{ fontSize: 38, fontWeight: 'bold', color: '#33302E' }}&gt;我的宝库盘点：全是 AI 帮忙做的！&lt;/Text&gt;&#10;  &lt;/Box&gt;&#10;  {/* B 内容区 */}&#10;  &lt;Box style={{ height: 540, paddingHorizontal: 60, flexDirection: 'row', gap: 30, alignItems: 'center' }}&gt;&#10;    &lt;Box style={{ flex: 1, height: 420, background: 'rgba(249,115,22,0.10)', borderRadius: 22, padding: 30, flexDirection: 'column', justifyContent: 'center', gap: 12 }}&gt;&#10;      &lt;Text style={{ fontSize: 108, fontWeight: 'bold', color: '#F97316', textAlign: 'center' }}&gt;30+&lt;/Text&gt;&#10;      &lt;Text style={{ fontSize: 28, fontWeight: 'bold', color: '#33302E', textAlign: 'center' }}&gt;个学习小游戏&lt;/Text&gt;&#10;      &lt;Text style={{ fontSize: 22, color: '#6B6660', textAlign: 'center', lineHeight: 1.5 }}&gt;从微积分到地理问答&lt;br /&gt;想学什么就做什么&lt;/Text&gt;&#10;    &lt;/Box&gt;&#10;    &lt;Box style={{ flex: 1, height: 420, background: 'rgba(43,179,163,0.10)', borderRadius: 22, padding: 30, flexDirection: 'column', justifyContent: 'center', gap: 12 }}&gt;&#10;      &lt;Text style={{ fontSize: 108, fontWeight: 'bold', color: '#2BB3A3', textAlign: 'center' }}&gt;5&lt;/Text&gt;&#10;      &lt;Text style={{ fontSize: 28, fontWeight: 'bold', color: '#33302E', textAlign: 'center' }}&gt;大类知识&lt;/Text&gt;&#10;      &lt;Text style={{ fontSize: 22, color: '#6B6660', textAlign: 'center', lineHeight: 1.5 }}&gt;数学概念 · 奥数谜题&lt;br /&gt;棋盘策略 · 英语 · 生活数学&lt;/Text&gt;&#10;    &lt;/Box&gt;&#10;    &lt;Box style={{ flex: 1, height: 420, background: 'rgba(255,201,60,0.16)', borderRadius: 22, padding: 30, flexDirection: 'column', justifyContent: 'center', gap: 12 }}&gt;&#10;      &lt;Text style={{ fontSize: 108, fontWeight: 'bold', color: '#F97316', textAlign: 'center' }}&gt;100%&lt;/Text&gt;&#10;      &lt;Text style={{ fontSize: 28, fontWeight: 'bold', color: '#33302E', textAlign: 'center' }}&gt;AI 参与制作&lt;/Text&gt;&#10;      &lt;Text style={{ fontSize: 22, color: '#6B6660', textAlign: 'center', lineHeight: 1.5 }}&gt;AI 写程序、画动画、出题目&lt;br /&gt;我出想法、试玩、提意见&lt;/Text&gt;&#10;    &lt;/Box&gt;&#10;  &lt;/Box&gt;&#10;  {/* C 页脚条 */}&#10;  &lt;Box style={{ height: 60, paddingHorizontal: 60, flexDirection: 'row', alignItems: 'center', justifyContent: 'space-between' }}&gt;&#10;    &lt;Text style={{ fontSize: 14, color: '#8A8580' }}&gt;我和 AI 一起学数学&lt;/Text&gt;&#10;    &lt;Text style={{ fontSize: 14, color: '#8A8580' }}&gt;12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0" y="447675"/>
            <a:ext cx="76200" cy="5334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247650" y="495300"/>
            <a:ext cx="56769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33302E"/>
                </a:solidFill>
                <a:latin typeface="Microsoft YaHei"/>
                <a:ea typeface="Microsoft YaHei"/>
              </a:rPr>
              <a:t>我的宝库盘点：全是</a:t>
            </a:r>
            <a:r>
              <a:rPr lang="en-US" sz="2850" b="1">
                <a:solidFill>
                  <a:srgbClr val="33302E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2850" b="1">
                <a:solidFill>
                  <a:srgbClr val="33302E"/>
                </a:solidFill>
                <a:latin typeface="Microsoft YaHei"/>
                <a:ea typeface="Microsoft YaHei"/>
              </a:rPr>
              <a:t>帮忙做的！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0" y="1714500"/>
            <a:ext cx="3876675" cy="4000500"/>
          </a:xfrm>
          <a:prstGeom prst="roundRect">
            <a:avLst>
              <a:gd name="adj" fmla="val 5405"/>
            </a:avLst>
          </a:prstGeom>
          <a:solidFill>
            <a:srgbClr val="F97316">
              <a:alpha val="10000"/>
            </a:srgbClr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285750" y="2438400"/>
            <a:ext cx="3305175" cy="12382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100" b="1">
                <a:solidFill>
                  <a:srgbClr val="F97316"/>
                </a:solidFill>
                <a:latin typeface="Microsoft YaHei"/>
                <a:ea typeface="Microsoft YaHei"/>
              </a:rPr>
              <a:t>30+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285750" y="3790950"/>
            <a:ext cx="3305175" cy="3238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2100" b="1">
                <a:solidFill>
                  <a:srgbClr val="33302E"/>
                </a:solidFill>
                <a:latin typeface="Microsoft YaHei"/>
                <a:ea typeface="Microsoft YaHei"/>
              </a:rPr>
              <a:t>个学习小游戏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285750" y="4229100"/>
            <a:ext cx="3305175" cy="76200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650">
                <a:solidFill>
                  <a:srgbClr val="6B6660"/>
                </a:solidFill>
                <a:latin typeface="Microsoft YaHei"/>
                <a:ea typeface="Microsoft YaHei"/>
              </a:rPr>
              <a:t>从微积分到地理问答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1650">
                <a:solidFill>
                  <a:srgbClr val="6B6660"/>
                </a:solidFill>
                <a:latin typeface="Microsoft YaHei"/>
                <a:ea typeface="Microsoft YaHei"/>
              </a:rPr>
              <a:t>想学什么就做什么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4162425" y="1714500"/>
            <a:ext cx="3867150" cy="4000500"/>
          </a:xfrm>
          <a:prstGeom prst="roundRect">
            <a:avLst>
              <a:gd name="adj" fmla="val 5419"/>
            </a:avLst>
          </a:prstGeom>
          <a:solidFill>
            <a:srgbClr val="2BB3A3">
              <a:alpha val="10000"/>
            </a:srgbClr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4448175" y="2438400"/>
            <a:ext cx="3295650" cy="12382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100" b="1">
                <a:solidFill>
                  <a:srgbClr val="2BB3A3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4448175" y="3790950"/>
            <a:ext cx="3295650" cy="3238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2100" b="1">
                <a:solidFill>
                  <a:srgbClr val="33302E"/>
                </a:solidFill>
                <a:latin typeface="Microsoft YaHei"/>
                <a:ea typeface="Microsoft YaHei"/>
              </a:rPr>
              <a:t>大类知识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4448175" y="4229100"/>
            <a:ext cx="3295650" cy="76200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650">
                <a:solidFill>
                  <a:srgbClr val="6B6660"/>
                </a:solidFill>
                <a:latin typeface="Microsoft YaHei"/>
                <a:ea typeface="Microsoft YaHei"/>
              </a:rPr>
              <a:t>数学概念</a:t>
            </a:r>
            <a:r>
              <a:rPr lang="en-US" sz="1650">
                <a:solidFill>
                  <a:srgbClr val="6B666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>
                <a:solidFill>
                  <a:srgbClr val="6B6660"/>
                </a:solidFill>
                <a:latin typeface="Microsoft YaHei"/>
                <a:ea typeface="Microsoft YaHei"/>
              </a:rPr>
              <a:t>奥数谜题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1650">
                <a:solidFill>
                  <a:srgbClr val="6B6660"/>
                </a:solidFill>
                <a:latin typeface="Microsoft YaHei"/>
                <a:ea typeface="Microsoft YaHei"/>
              </a:rPr>
              <a:t>棋盘策略</a:t>
            </a:r>
            <a:r>
              <a:rPr lang="en-US" sz="1650">
                <a:solidFill>
                  <a:srgbClr val="6B666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>
                <a:solidFill>
                  <a:srgbClr val="6B6660"/>
                </a:solidFill>
                <a:latin typeface="Microsoft YaHei"/>
                <a:ea typeface="Microsoft YaHei"/>
              </a:rPr>
              <a:t>英语</a:t>
            </a:r>
            <a:r>
              <a:rPr lang="en-US" sz="1650">
                <a:solidFill>
                  <a:srgbClr val="6B666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>
                <a:solidFill>
                  <a:srgbClr val="6B6660"/>
                </a:solidFill>
                <a:latin typeface="Microsoft YaHei"/>
                <a:ea typeface="Microsoft YaHei"/>
              </a:rPr>
              <a:t>生活数学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8315325" y="1714500"/>
            <a:ext cx="3876675" cy="4000500"/>
          </a:xfrm>
          <a:prstGeom prst="roundRect">
            <a:avLst>
              <a:gd name="adj" fmla="val 5405"/>
            </a:avLst>
          </a:prstGeom>
          <a:solidFill>
            <a:srgbClr val="FFC93C">
              <a:alpha val="16000"/>
            </a:srgbClr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8601075" y="2438400"/>
            <a:ext cx="3305175" cy="12382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100" b="1">
                <a:solidFill>
                  <a:srgbClr val="F97316"/>
                </a:solidFill>
                <a:latin typeface="Microsoft YaHei"/>
                <a:ea typeface="Microsoft YaHei"/>
              </a:rPr>
              <a:t>100%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8601075" y="3790950"/>
            <a:ext cx="3305175" cy="3238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2100" b="1">
                <a:solidFill>
                  <a:srgbClr val="33302E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2100" b="1">
                <a:solidFill>
                  <a:srgbClr val="33302E"/>
                </a:solidFill>
                <a:latin typeface="Microsoft YaHei"/>
                <a:ea typeface="Microsoft YaHei"/>
              </a:rPr>
              <a:t>参与制作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8601075" y="4229100"/>
            <a:ext cx="3305175" cy="76200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1650">
                <a:solidFill>
                  <a:srgbClr val="6B666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650">
                <a:solidFill>
                  <a:srgbClr val="6B6660"/>
                </a:solidFill>
                <a:latin typeface="Microsoft YaHei"/>
                <a:ea typeface="Microsoft YaHei"/>
              </a:rPr>
              <a:t>写程序、画动画、出题目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1650">
                <a:solidFill>
                  <a:srgbClr val="6B6660"/>
                </a:solidFill>
                <a:latin typeface="Microsoft YaHei"/>
                <a:ea typeface="Microsoft YaHei"/>
              </a:rPr>
              <a:t>我出想法、试玩、提意见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0" y="649605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580"/>
                </a:solidFill>
                <a:latin typeface="Microsoft YaHei"/>
                <a:ea typeface="Microsoft YaHei"/>
              </a:rPr>
              <a:t>我和</a:t>
            </a:r>
            <a:r>
              <a:rPr lang="en-US" sz="1050">
                <a:solidFill>
                  <a:srgbClr val="8A858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A8580"/>
                </a:solidFill>
                <a:latin typeface="Microsoft YaHei"/>
                <a:ea typeface="Microsoft YaHei"/>
              </a:rPr>
              <a:t>一起学数学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17348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580"/>
                </a:solidFill>
                <a:latin typeface="Microsoft YaHei"/>
                <a:ea typeface="Microsoft YaHei"/>
              </a:rPr>
              <a:t>12 / 15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58" name="" descr="&lt;Slide style={{ width: 1280, height: 720, background: '#FFF8F0', fontFamily: &quot;'Microsoft YaHei', sans-serif&quot; }}&gt;&#10;  {/* A 标题块 */}&#10;  &lt;Box style={{ height: 120, paddingHorizontal: 60, paddingTop: 30, flexDirection: 'row', alignItems: 'center', gap: 18 }}&gt;&#10;    &lt;Box style={{ width: 8, height: 56, background: '#F97316', borderRadius: 4 }} /&gt;&#10;    &lt;Text style={{ fontSize: 38, fontWeight: 'bold', color: '#33302E' }}&gt;我用 AI 学数学的三个秘诀&lt;/Text&gt;&#10;  &lt;/Box&gt;&#10;  {/* B 内容区 */}&#10;  &lt;Box style={{ height: 540, paddingHorizontal: 60, flexDirection: 'row', gap: 26, alignItems: 'center' }}&gt;&#10;    &lt;Box style={{ flex: 1, height: 440, background: '#FFFFFF', borderRadius: 22, padding: 30, boxShadow: '0 6px 24px rgba(51,48,46,0.10)', flexDirection: 'column', justifyContent: 'space-between', borderTop: '10px solid #F97316' }}&gt;&#10;      &lt;Text style={{ fontSize: 96, fontWeight: 'bold', color: '#FFC93C', textAlign: 'center' }}&gt;1&lt;/Text&gt;&#10;      &lt;Box style={{ flexDirection: 'column', gap: 14 }}&gt;&#10;        &lt;Text style={{ fontSize: 32, fontWeight: 'bold', color: '#33302E', textAlign: 'center' }}&gt;让它&quot;演&quot;给我看&lt;/Text&gt;&#10;        &lt;Text style={{ fontSize: 24, color: '#6B6660', lineHeight: 1.55, textAlign: 'center' }}&gt;&#10;          看不懂的概念，请 AI 变成动画和游戏——披萨一切，极限就懂了&#10;        &lt;/Text&gt;&#10;      &lt;/Box&gt;&#10;    &lt;/Box&gt;&#10;    &lt;Box style={{ flex: 1, height: 440, background: '#FFFFFF', borderRadius: 22, padding: 30, boxShadow: '0 6px 24px rgba(51,48,46,0.10)', flexDirection: 'column', justifyContent: 'space-between', borderTop: '10px solid #2BB3A3' }}&gt;&#10;      &lt;Text style={{ fontSize: 96, fontWeight: 'bold', color: '#2BB3A3', textAlign: 'center' }}&gt;2&lt;/Text&gt;&#10;      &lt;Box style={{ flexDirection: 'column', gap: 14 }}&gt;&#10;        &lt;Text style={{ fontSize: 32, fontWeight: 'bold', color: '#33302E', textAlign: 'center' }}&gt;边玩边问&lt;/Text&gt;&#10;        &lt;Text style={{ fontSize: 24, color: '#6B6660', lineHeight: 1.55, textAlign: 'center' }}&gt;&#10;          在游戏里学得最快！有不懂就问 AI，它马上演示给我看&#10;        &lt;/Text&gt;&#10;      &lt;/Box&gt;&#10;    &lt;/Box&gt;&#10;    &lt;Box style={{ flex: 1, height: 440, background: '#FFFFFF', borderRadius: 22, padding: 30, boxShadow: '0 6px 24px rgba(51,48,46,0.10)', flexDirection: 'column', justifyContent: 'space-between', borderTop: '10px solid #FFC93C' }}&gt;&#10;      &lt;Text style={{ fontSize: 96, fontWeight: 'bold', color: '#F97316', textAlign: 'center' }}&gt;3&lt;/Text&gt;&#10;      &lt;Box style={{ flexDirection: 'column', gap: 14 }}&gt;&#10;        &lt;Text style={{ fontSize: 32, fontWeight: 'bold', color: '#33302E', textAlign: 'center' }}&gt;错了再试&lt;/Text&gt;&#10;        &lt;Text style={{ fontSize: 24, color: '#6B6660', lineHeight: 1.55, textAlign: 'center' }}&gt;&#10;          AI 不批评我，陪我重来一次。多试几次，我就比它还厉害&#10;        &lt;/Text&gt;&#10;      &lt;/Box&gt;&#10;    &lt;/Box&gt;&#10;  &lt;/Box&gt;&#10;  {/* C 页脚条 */}&#10;  &lt;Box style={{ height: 60, paddingHorizontal: 60, flexDirection: 'row', alignItems: 'center', justifyContent: 'space-between' }}&gt;&#10;    &lt;Text style={{ fontSize: 14, color: '#8A8580' }}&gt;我和 AI 一起学数学&lt;/Text&gt;&#10;    &lt;Text style={{ fontSize: 14, color: '#8A8580' }}&gt;13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p/>
        </p:txBody>
      </p:sp>
      <p:sp>
        <p:nvSpPr>
          <p:cNvPr id="60" name=""/>
          <p:cNvSpPr/>
          <p:nvPr/>
        </p:nvSpPr>
        <p:spPr>
          <a:xfrm rot="0" flipH="0" flipV="0">
            <a:off x="0" y="447675"/>
            <a:ext cx="76200" cy="5334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247650" y="495300"/>
            <a:ext cx="42291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33302E"/>
                </a:solidFill>
                <a:latin typeface="Microsoft YaHei"/>
                <a:ea typeface="Microsoft YaHei"/>
              </a:rPr>
              <a:t>我用</a:t>
            </a:r>
            <a:r>
              <a:rPr lang="en-US" sz="2850" b="1">
                <a:solidFill>
                  <a:srgbClr val="33302E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2850" b="1">
                <a:solidFill>
                  <a:srgbClr val="33302E"/>
                </a:solidFill>
                <a:latin typeface="Microsoft YaHei"/>
                <a:ea typeface="Microsoft YaHei"/>
              </a:rPr>
              <a:t>学数学的三个秘诀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0" y="1714500"/>
            <a:ext cx="3895725" cy="4095750"/>
          </a:xfrm>
          <a:prstGeom prst="roundRect">
            <a:avLst>
              <a:gd name="adj" fmla="val 5379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33302E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3" name=""/>
          <p:cNvSpPr/>
          <p:nvPr/>
        </p:nvSpPr>
        <p:spPr>
          <a:xfrm rot="0" flipH="0" flipV="0">
            <a:off x="0" y="1714500"/>
            <a:ext cx="3895725" cy="4095750"/>
          </a:xfrm>
          <a:custGeom>
            <a:pathLst>
              <a:path w="409" h="430">
                <a:moveTo>
                  <a:pt x="388" y="0"/>
                </a:moveTo>
                <a:cubicBezTo>
                  <a:pt x="398" y="0"/>
                  <a:pt x="407" y="8"/>
                  <a:pt x="408" y="19"/>
                </a:cubicBezTo>
                <a:cubicBezTo>
                  <a:pt x="407" y="13"/>
                  <a:pt x="402" y="10"/>
                  <a:pt x="397" y="10"/>
                </a:cubicBezTo>
                <a:lnTo>
                  <a:pt x="12" y="10"/>
                </a:lnTo>
                <a:cubicBezTo>
                  <a:pt x="6" y="10"/>
                  <a:pt x="1" y="14"/>
                  <a:pt x="0" y="20"/>
                </a:cubicBezTo>
                <a:cubicBezTo>
                  <a:pt x="1" y="9"/>
                  <a:pt x="11" y="0"/>
                  <a:pt x="22" y="0"/>
                </a:cubicBezTo>
                <a:lnTo>
                  <a:pt x="387" y="0"/>
                </a:ln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285750" y="2000250"/>
            <a:ext cx="3324225" cy="11049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200" b="1">
                <a:solidFill>
                  <a:srgbClr val="FFC93C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285750" y="3743325"/>
            <a:ext cx="3324225" cy="3714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2400" b="1">
                <a:solidFill>
                  <a:srgbClr val="33302E"/>
                </a:solidFill>
                <a:latin typeface="Microsoft YaHei"/>
                <a:ea typeface="Microsoft YaHei"/>
              </a:rPr>
              <a:t>让它</a:t>
            </a:r>
            <a:r>
              <a:rPr lang="en-US" sz="2400" b="1">
                <a:solidFill>
                  <a:srgbClr val="33302E"/>
                </a:solidFill>
                <a:latin typeface="Microsoft YaHei"/>
                <a:ea typeface="Microsoft YaHei"/>
              </a:rPr>
              <a:t>"</a:t>
            </a:r>
            <a:r>
              <a:rPr lang="zh-CN" sz="2400" b="1">
                <a:solidFill>
                  <a:srgbClr val="33302E"/>
                </a:solidFill>
                <a:latin typeface="Microsoft YaHei"/>
                <a:ea typeface="Microsoft YaHei"/>
              </a:rPr>
              <a:t>演</a:t>
            </a:r>
            <a:r>
              <a:rPr lang="en-US" sz="2400" b="1">
                <a:solidFill>
                  <a:srgbClr val="33302E"/>
                </a:solidFill>
                <a:latin typeface="Microsoft YaHei"/>
                <a:ea typeface="Microsoft YaHei"/>
              </a:rPr>
              <a:t>"</a:t>
            </a:r>
            <a:r>
              <a:rPr lang="zh-CN" sz="2400" b="1">
                <a:solidFill>
                  <a:srgbClr val="33302E"/>
                </a:solidFill>
                <a:latin typeface="Microsoft YaHei"/>
                <a:ea typeface="Microsoft YaHei"/>
              </a:rPr>
              <a:t>给我看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285750" y="4248150"/>
            <a:ext cx="3324225" cy="12763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5000"/>
              </a:lnSpc>
            </a:pPr>
            <a:r>
              <a:rPr lang="zh-CN" sz="1800">
                <a:solidFill>
                  <a:srgbClr val="6B6660"/>
                </a:solidFill>
                <a:latin typeface="Microsoft YaHei"/>
                <a:ea typeface="Microsoft YaHei"/>
              </a:rPr>
              <a:t>看不懂的概念，请</a:t>
            </a:r>
            <a:r>
              <a:rPr lang="en-US" sz="1800">
                <a:solidFill>
                  <a:srgbClr val="6B666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800">
                <a:solidFill>
                  <a:srgbClr val="6B6660"/>
                </a:solidFill>
                <a:latin typeface="Microsoft YaHei"/>
                <a:ea typeface="Microsoft YaHei"/>
              </a:rPr>
              <a:t>变成动画和游戏——披萨一切，极限就懂了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4143375" y="1714500"/>
            <a:ext cx="3905250" cy="4095750"/>
          </a:xfrm>
          <a:prstGeom prst="roundRect">
            <a:avLst>
              <a:gd name="adj" fmla="val 5366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33302E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8" name=""/>
          <p:cNvSpPr/>
          <p:nvPr/>
        </p:nvSpPr>
        <p:spPr>
          <a:xfrm rot="0" flipH="0" flipV="0">
            <a:off x="4143375" y="1714500"/>
            <a:ext cx="3905250" cy="4095750"/>
          </a:xfrm>
          <a:custGeom>
            <a:pathLst>
              <a:path w="410" h="430">
                <a:moveTo>
                  <a:pt x="389" y="0"/>
                </a:moveTo>
                <a:cubicBezTo>
                  <a:pt x="399" y="0"/>
                  <a:pt x="408" y="8"/>
                  <a:pt x="409" y="19"/>
                </a:cubicBezTo>
                <a:cubicBezTo>
                  <a:pt x="408" y="13"/>
                  <a:pt x="403" y="10"/>
                  <a:pt x="398" y="10"/>
                </a:cubicBezTo>
                <a:lnTo>
                  <a:pt x="12" y="10"/>
                </a:lnTo>
                <a:cubicBezTo>
                  <a:pt x="6" y="10"/>
                  <a:pt x="1" y="14"/>
                  <a:pt x="0" y="20"/>
                </a:cubicBezTo>
                <a:cubicBezTo>
                  <a:pt x="1" y="9"/>
                  <a:pt x="11" y="0"/>
                  <a:pt x="22" y="0"/>
                </a:cubicBezTo>
                <a:lnTo>
                  <a:pt x="388" y="0"/>
                </a:lnTo>
                <a:close/>
              </a:path>
            </a:pathLst>
          </a:custGeom>
          <a:solidFill>
            <a:srgbClr val="2BB3A3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4429125" y="2000250"/>
            <a:ext cx="3333750" cy="11049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200" b="1">
                <a:solidFill>
                  <a:srgbClr val="2BB3A3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4429125" y="4162425"/>
            <a:ext cx="3333750" cy="3714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2400" b="1">
                <a:solidFill>
                  <a:srgbClr val="33302E"/>
                </a:solidFill>
                <a:latin typeface="Microsoft YaHei"/>
                <a:ea typeface="Microsoft YaHei"/>
              </a:rPr>
              <a:t>边玩边问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4429125" y="4667250"/>
            <a:ext cx="3333750" cy="8572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5000"/>
              </a:lnSpc>
            </a:pPr>
            <a:r>
              <a:rPr lang="zh-CN" sz="1800">
                <a:solidFill>
                  <a:srgbClr val="6B6660"/>
                </a:solidFill>
                <a:latin typeface="Microsoft YaHei"/>
                <a:ea typeface="Microsoft YaHei"/>
              </a:rPr>
              <a:t>在游戏里学得最快！有不懂就问</a:t>
            </a:r>
            <a:r>
              <a:rPr lang="en-US" sz="1800">
                <a:solidFill>
                  <a:srgbClr val="6B6660"/>
                </a:solidFill>
                <a:latin typeface="Microsoft YaHei"/>
                <a:ea typeface="Microsoft YaHei"/>
              </a:rPr>
              <a:t xml:space="preserve"> AI</a:t>
            </a:r>
            <a:r>
              <a:rPr lang="zh-CN" sz="1800">
                <a:solidFill>
                  <a:srgbClr val="6B6660"/>
                </a:solidFill>
                <a:latin typeface="Microsoft YaHei"/>
                <a:ea typeface="Microsoft YaHei"/>
              </a:rPr>
              <a:t>，它马上演示给我看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8296275" y="1714500"/>
            <a:ext cx="3895725" cy="4095750"/>
          </a:xfrm>
          <a:prstGeom prst="roundRect">
            <a:avLst>
              <a:gd name="adj" fmla="val 5379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33302E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8296275" y="1714500"/>
            <a:ext cx="3895725" cy="4095750"/>
          </a:xfrm>
          <a:custGeom>
            <a:pathLst>
              <a:path w="409" h="430">
                <a:moveTo>
                  <a:pt x="388" y="0"/>
                </a:moveTo>
                <a:cubicBezTo>
                  <a:pt x="398" y="0"/>
                  <a:pt x="407" y="8"/>
                  <a:pt x="408" y="19"/>
                </a:cubicBezTo>
                <a:cubicBezTo>
                  <a:pt x="407" y="13"/>
                  <a:pt x="402" y="10"/>
                  <a:pt x="397" y="10"/>
                </a:cubicBezTo>
                <a:lnTo>
                  <a:pt x="12" y="10"/>
                </a:lnTo>
                <a:cubicBezTo>
                  <a:pt x="6" y="10"/>
                  <a:pt x="1" y="14"/>
                  <a:pt x="0" y="20"/>
                </a:cubicBezTo>
                <a:cubicBezTo>
                  <a:pt x="1" y="9"/>
                  <a:pt x="11" y="0"/>
                  <a:pt x="22" y="0"/>
                </a:cubicBezTo>
                <a:lnTo>
                  <a:pt x="387" y="0"/>
                </a:lnTo>
                <a:close/>
              </a:path>
            </a:pathLst>
          </a:custGeom>
          <a:solidFill>
            <a:srgbClr val="FFC93C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8582025" y="2000250"/>
            <a:ext cx="3324225" cy="11049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200" b="1">
                <a:solidFill>
                  <a:srgbClr val="F97316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8582025" y="4162425"/>
            <a:ext cx="3324225" cy="3714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2400" b="1">
                <a:solidFill>
                  <a:srgbClr val="33302E"/>
                </a:solidFill>
                <a:latin typeface="Microsoft YaHei"/>
                <a:ea typeface="Microsoft YaHei"/>
              </a:rPr>
              <a:t>错了再试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582025" y="4667250"/>
            <a:ext cx="3324225" cy="8572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5000"/>
              </a:lnSpc>
            </a:pPr>
            <a:r>
              <a:rPr lang="en-US" sz="1800">
                <a:solidFill>
                  <a:srgbClr val="6B666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800">
                <a:solidFill>
                  <a:srgbClr val="6B6660"/>
                </a:solidFill>
                <a:latin typeface="Microsoft YaHei"/>
                <a:ea typeface="Microsoft YaHei"/>
              </a:rPr>
              <a:t>不批评我，陪我重来一次。多试几次，我就比它还厉害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0" y="649605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580"/>
                </a:solidFill>
                <a:latin typeface="Microsoft YaHei"/>
                <a:ea typeface="Microsoft YaHei"/>
              </a:rPr>
              <a:t>我和</a:t>
            </a:r>
            <a:r>
              <a:rPr lang="en-US" sz="1050">
                <a:solidFill>
                  <a:srgbClr val="8A858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A8580"/>
                </a:solidFill>
                <a:latin typeface="Microsoft YaHei"/>
                <a:ea typeface="Microsoft YaHei"/>
              </a:rPr>
              <a:t>一起学数学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17348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580"/>
                </a:solidFill>
                <a:latin typeface="Microsoft YaHei"/>
                <a:ea typeface="Microsoft YaHei"/>
              </a:rPr>
              <a:t>13 / 15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79" name="" descr="&lt;Slide style={{ width: 1280, height: 720, background: '#FFF8F0', fontFamily: &quot;'Microsoft YaHei', sans-serif&quot; }}&gt;&#10;  {/* A 标题块 */}&#10;  &lt;Box style={{ height: 120, paddingHorizontal: 60, paddingTop: 30, flexDirection: 'row', alignItems: 'center', gap: 18 }}&gt;&#10;    &lt;Box style={{ width: 8, height: 56, background: '#F97316', borderRadius: 4 }} /&gt;&#10;    &lt;Text style={{ fontSize: 38, fontWeight: 'bold', color: '#33302E' }}&gt;同学们，你们也可以！&lt;/Text&gt;&#10;  &lt;/Box&gt;&#10;  {/* B 内容区 */}&#10;  &lt;Box style={{ height: 540, paddingHorizontal: 60, flexDirection: 'column', justifyContent: 'center', gap: 26 }}&gt;&#10;    &lt;Box style={{ flexDirection: 'row', alignItems: 'center', gap: 26, background: '#FFFFFF', borderRadius: 20, padding: '22px 32px', boxShadow: '0 6px 24px rgba(51,48,46,0.10)', borderLeft: '10px solid #F97316' }}&gt;&#10;      &lt;Text style={{ fontSize: 52, fontWeight: 'bold' }}&gt;🙋&lt;/Text&gt;&#10;      &lt;Box style={{ flexDirection: 'column', gap: 6 }}&gt;&#10;        &lt;Text style={{ fontSize: 29, fontWeight: 'bold', color: '#33302E' }}&gt;第一步：把不会的题说出来&lt;/Text&gt;&#10;        &lt;Text style={{ fontSize: 24, color: '#6B6660', lineHeight: 1.45 }}&gt;请爸爸妈妈帮忙打开 AI，把题目读给它听，让它&quot;演&quot;给你看&lt;/Text&gt;&#10;      &lt;/Box&gt;&#10;    &lt;/Box&gt;&#10;    &lt;Box style={{ flexDirection: 'row', alignItems: 'center', gap: 26, background: '#FFFFFF', borderRadius: 20, padding: '22px 32px', boxShadow: '0 6px 24px rgba(51,48,46,0.10)', borderLeft: '10px solid #2BB3A3' }}&gt;&#10;      &lt;Text style={{ fontSize: 52, fontWeight: 'bold' }}&gt;💡&lt;/Text&gt;&#10;      &lt;Box style={{ flexDirection: 'column', gap: 6 }}&gt;&#10;        &lt;Text style={{ fontSize: 29, fontWeight: 'bold', color: '#33302E' }}&gt;第二步：大胆提出你的怪想法&lt;/Text&gt;&#10;        &lt;Text style={{ fontSize: 24, color: '#6B6660', lineHeight: 1.45 }}&gt;&quot;能不能把这道题做成游戏？&quot;——我的宝库就是这么来的！&lt;/Text&gt;&#10;      &lt;/Box&gt;&#10;    &lt;/Box&gt;&#10;    &lt;Box style={{ flexDirection: 'row', alignItems: 'center', gap: 26, background: '#FFFFFF', borderRadius: 20, padding: '22px 32px', boxShadow: '0 6px 24px rgba(51,48,46,0.10)', borderLeft: '10px solid #FFC93C' }}&gt;&#10;      &lt;Text style={{ fontSize: 52, fontWeight: 'bold' }}&gt;🧠&lt;/Text&gt;&#10;      &lt;Box style={{ flexDirection: 'column', gap: 6 }}&gt;&#10;        &lt;Text style={{ fontSize: 29, fontWeight: 'bold', color: '#33302E' }}&gt;第三步：记住，脑子是自己的&lt;/Text&gt;&#10;        &lt;Text style={{ fontSize: 24, color: '#6B6660', lineHeight: 1.45 }}&gt;先自己想，再问 AI；让它提示，别让它代写！&lt;/Text&gt;&#10;      &lt;/Box&gt;&#10;    &lt;/Box&gt;&#10;  &lt;/Box&gt;&#10;  {/* C 页脚条 */}&#10;  &lt;Box style={{ height: 60, paddingHorizontal: 60, flexDirection: 'row', alignItems: 'center', justifyContent: 'space-between' }}&gt;&#10;    &lt;Text style={{ fontSize: 14, color: '#8A8580' }}&gt;我和 AI 一起学数学&lt;/Text&gt;&#10;    &lt;Text style={{ fontSize: 14, color: '#8A8580' }}&gt;14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p/>
        </p:txBody>
      </p:sp>
      <p:sp>
        <p:nvSpPr>
          <p:cNvPr id="81" name=""/>
          <p:cNvSpPr/>
          <p:nvPr/>
        </p:nvSpPr>
        <p:spPr>
          <a:xfrm rot="0" flipH="0" flipV="0">
            <a:off x="0" y="447675"/>
            <a:ext cx="76200" cy="5334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247650" y="495300"/>
            <a:ext cx="36195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33302E"/>
                </a:solidFill>
                <a:latin typeface="Microsoft YaHei"/>
                <a:ea typeface="Microsoft YaHei"/>
              </a:rPr>
              <a:t>同学们，你们也可以！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95250" y="1657350"/>
            <a:ext cx="12192000" cy="1209675"/>
          </a:xfrm>
          <a:prstGeom prst="roundRect">
            <a:avLst>
              <a:gd name="adj" fmla="val 15748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33302E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4" name=""/>
          <p:cNvSpPr/>
          <p:nvPr/>
        </p:nvSpPr>
        <p:spPr>
          <a:xfrm rot="0" flipH="0" flipV="0">
            <a:off x="95250" y="1657350"/>
            <a:ext cx="12192000" cy="1209675"/>
          </a:xfrm>
          <a:custGeom>
            <a:pathLst>
              <a:path w="1280" h="127">
                <a:moveTo>
                  <a:pt x="19" y="0"/>
                </a:moveTo>
                <a:cubicBezTo>
                  <a:pt x="14" y="1"/>
                  <a:pt x="10" y="5"/>
                  <a:pt x="10" y="10"/>
                </a:cubicBezTo>
                <a:lnTo>
                  <a:pt x="10" y="117"/>
                </a:lnTo>
                <a:cubicBezTo>
                  <a:pt x="10" y="122"/>
                  <a:pt x="13" y="126"/>
                  <a:pt x="18" y="127"/>
                </a:cubicBezTo>
                <a:cubicBezTo>
                  <a:pt x="8" y="126"/>
                  <a:pt x="0" y="117"/>
                  <a:pt x="0" y="107"/>
                </a:cubicBezTo>
                <a:lnTo>
                  <a:pt x="0" y="20"/>
                </a:lnTo>
                <a:cubicBezTo>
                  <a:pt x="0" y="9"/>
                  <a:pt x="9" y="0"/>
                  <a:pt x="20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400050" y="1962150"/>
            <a:ext cx="6858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3900" b="1">
                <a:solidFill>
                  <a:schemeClr val="tx1"/>
                </a:solidFill>
                <a:latin typeface="Microsoft YaHei"/>
                <a:ea typeface="Microsoft YaHei"/>
              </a:rPr>
              <a:t>🙋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333500" y="1866900"/>
            <a:ext cx="598170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75" b="1">
                <a:solidFill>
                  <a:srgbClr val="33302E"/>
                </a:solidFill>
                <a:latin typeface="Microsoft YaHei"/>
                <a:ea typeface="Microsoft YaHei"/>
              </a:rPr>
              <a:t>第一步：把不会的题说出来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333500" y="2257425"/>
            <a:ext cx="5981700" cy="4000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>
                <a:solidFill>
                  <a:srgbClr val="6B6660"/>
                </a:solidFill>
                <a:latin typeface="Microsoft YaHei"/>
                <a:ea typeface="Microsoft YaHei"/>
              </a:rPr>
              <a:t>请爸爸妈妈帮忙打开</a:t>
            </a:r>
            <a:r>
              <a:rPr lang="en-US" sz="1800">
                <a:solidFill>
                  <a:srgbClr val="6B6660"/>
                </a:solidFill>
                <a:latin typeface="Microsoft YaHei"/>
                <a:ea typeface="Microsoft YaHei"/>
              </a:rPr>
              <a:t xml:space="preserve"> AI</a:t>
            </a:r>
            <a:r>
              <a:rPr lang="zh-CN" sz="1800">
                <a:solidFill>
                  <a:srgbClr val="6B6660"/>
                </a:solidFill>
                <a:latin typeface="Microsoft YaHei"/>
                <a:ea typeface="Microsoft YaHei"/>
              </a:rPr>
              <a:t>，把题目读给它听，让它</a:t>
            </a:r>
            <a:r>
              <a:rPr lang="en-US" sz="1800">
                <a:solidFill>
                  <a:srgbClr val="6B6660"/>
                </a:solidFill>
                <a:latin typeface="Microsoft YaHei"/>
                <a:ea typeface="Microsoft YaHei"/>
              </a:rPr>
              <a:t>"</a:t>
            </a:r>
            <a:r>
              <a:rPr lang="zh-CN" sz="1800">
                <a:solidFill>
                  <a:srgbClr val="6B6660"/>
                </a:solidFill>
                <a:latin typeface="Microsoft YaHei"/>
                <a:ea typeface="Microsoft YaHei"/>
              </a:rPr>
              <a:t>演</a:t>
            </a:r>
            <a:r>
              <a:rPr lang="en-US" sz="1800">
                <a:solidFill>
                  <a:srgbClr val="6B6660"/>
                </a:solidFill>
                <a:latin typeface="Microsoft YaHei"/>
                <a:ea typeface="Microsoft YaHei"/>
              </a:rPr>
              <a:t>"</a:t>
            </a:r>
            <a:r>
              <a:rPr lang="zh-CN" sz="1800">
                <a:solidFill>
                  <a:srgbClr val="6B6660"/>
                </a:solidFill>
                <a:latin typeface="Microsoft YaHei"/>
                <a:ea typeface="Microsoft YaHei"/>
              </a:rPr>
              <a:t>给你看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95250" y="3114675"/>
            <a:ext cx="12192000" cy="1209675"/>
          </a:xfrm>
          <a:prstGeom prst="roundRect">
            <a:avLst>
              <a:gd name="adj" fmla="val 15748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33302E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95250" y="3114675"/>
            <a:ext cx="12192000" cy="1209675"/>
          </a:xfrm>
          <a:custGeom>
            <a:pathLst>
              <a:path w="1280" h="127">
                <a:moveTo>
                  <a:pt x="19" y="0"/>
                </a:moveTo>
                <a:cubicBezTo>
                  <a:pt x="14" y="1"/>
                  <a:pt x="10" y="5"/>
                  <a:pt x="10" y="10"/>
                </a:cubicBezTo>
                <a:lnTo>
                  <a:pt x="10" y="117"/>
                </a:lnTo>
                <a:cubicBezTo>
                  <a:pt x="10" y="122"/>
                  <a:pt x="13" y="126"/>
                  <a:pt x="18" y="127"/>
                </a:cubicBezTo>
                <a:cubicBezTo>
                  <a:pt x="8" y="126"/>
                  <a:pt x="0" y="117"/>
                  <a:pt x="0" y="107"/>
                </a:cubicBezTo>
                <a:lnTo>
                  <a:pt x="0" y="20"/>
                </a:lnTo>
                <a:cubicBezTo>
                  <a:pt x="0" y="9"/>
                  <a:pt x="9" y="0"/>
                  <a:pt x="20" y="0"/>
                </a:cubicBezTo>
                <a:close/>
              </a:path>
            </a:pathLst>
          </a:custGeom>
          <a:solidFill>
            <a:srgbClr val="2BB3A3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400050" y="3419475"/>
            <a:ext cx="6858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3900" b="1">
                <a:solidFill>
                  <a:schemeClr val="tx1"/>
                </a:solidFill>
                <a:latin typeface="Microsoft YaHei"/>
                <a:ea typeface="Microsoft YaHei"/>
              </a:rPr>
              <a:t>💡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1333500" y="3324225"/>
            <a:ext cx="595312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75" b="1">
                <a:solidFill>
                  <a:srgbClr val="33302E"/>
                </a:solidFill>
                <a:latin typeface="Microsoft YaHei"/>
                <a:ea typeface="Microsoft YaHei"/>
              </a:rPr>
              <a:t>第二步：大胆提出你的怪想法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333500" y="3714750"/>
            <a:ext cx="5953125" cy="4000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800">
                <a:solidFill>
                  <a:srgbClr val="6B6660"/>
                </a:solidFill>
                <a:latin typeface="Microsoft YaHei"/>
                <a:ea typeface="Microsoft YaHei"/>
              </a:rPr>
              <a:t>"</a:t>
            </a:r>
            <a:r>
              <a:rPr lang="zh-CN" sz="1800">
                <a:solidFill>
                  <a:srgbClr val="6B6660"/>
                </a:solidFill>
                <a:latin typeface="Microsoft YaHei"/>
                <a:ea typeface="Microsoft YaHei"/>
              </a:rPr>
              <a:t>能不能把这道题做成游戏？</a:t>
            </a:r>
            <a:r>
              <a:rPr lang="en-US" sz="1800">
                <a:solidFill>
                  <a:srgbClr val="6B6660"/>
                </a:solidFill>
                <a:latin typeface="Microsoft YaHei"/>
                <a:ea typeface="Microsoft YaHei"/>
              </a:rPr>
              <a:t>"——</a:t>
            </a:r>
            <a:r>
              <a:rPr lang="zh-CN" sz="1800">
                <a:solidFill>
                  <a:srgbClr val="6B6660"/>
                </a:solidFill>
                <a:latin typeface="Microsoft YaHei"/>
                <a:ea typeface="Microsoft YaHei"/>
              </a:rPr>
              <a:t>我的宝库就是这么来的！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95250" y="4572000"/>
            <a:ext cx="12192000" cy="1209675"/>
          </a:xfrm>
          <a:prstGeom prst="roundRect">
            <a:avLst>
              <a:gd name="adj" fmla="val 15748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33302E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4" name=""/>
          <p:cNvSpPr/>
          <p:nvPr/>
        </p:nvSpPr>
        <p:spPr>
          <a:xfrm rot="0" flipH="0" flipV="0">
            <a:off x="95250" y="4572000"/>
            <a:ext cx="12192000" cy="1209675"/>
          </a:xfrm>
          <a:custGeom>
            <a:pathLst>
              <a:path w="1280" h="127">
                <a:moveTo>
                  <a:pt x="19" y="0"/>
                </a:moveTo>
                <a:cubicBezTo>
                  <a:pt x="14" y="1"/>
                  <a:pt x="10" y="5"/>
                  <a:pt x="10" y="10"/>
                </a:cubicBezTo>
                <a:lnTo>
                  <a:pt x="10" y="117"/>
                </a:lnTo>
                <a:cubicBezTo>
                  <a:pt x="10" y="122"/>
                  <a:pt x="13" y="126"/>
                  <a:pt x="18" y="127"/>
                </a:cubicBezTo>
                <a:cubicBezTo>
                  <a:pt x="8" y="126"/>
                  <a:pt x="0" y="117"/>
                  <a:pt x="0" y="107"/>
                </a:cubicBezTo>
                <a:lnTo>
                  <a:pt x="0" y="20"/>
                </a:lnTo>
                <a:cubicBezTo>
                  <a:pt x="0" y="9"/>
                  <a:pt x="9" y="0"/>
                  <a:pt x="20" y="0"/>
                </a:cubicBezTo>
                <a:close/>
              </a:path>
            </a:pathLst>
          </a:custGeom>
          <a:solidFill>
            <a:srgbClr val="FFC93C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00050" y="4876800"/>
            <a:ext cx="6858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3900" b="1">
                <a:solidFill>
                  <a:schemeClr val="tx1"/>
                </a:solidFill>
                <a:latin typeface="Microsoft YaHei"/>
                <a:ea typeface="Microsoft YaHei"/>
              </a:rPr>
              <a:t>🧠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333500" y="4781550"/>
            <a:ext cx="464820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75" b="1">
                <a:solidFill>
                  <a:srgbClr val="33302E"/>
                </a:solidFill>
                <a:latin typeface="Microsoft YaHei"/>
                <a:ea typeface="Microsoft YaHei"/>
              </a:rPr>
              <a:t>第三步：记住，脑子是自己的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333500" y="5172075"/>
            <a:ext cx="4648200" cy="4000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>
                <a:solidFill>
                  <a:srgbClr val="6B6660"/>
                </a:solidFill>
                <a:latin typeface="Microsoft YaHei"/>
                <a:ea typeface="Microsoft YaHei"/>
              </a:rPr>
              <a:t>先自己想，再问</a:t>
            </a:r>
            <a:r>
              <a:rPr lang="en-US" sz="1800">
                <a:solidFill>
                  <a:srgbClr val="6B6660"/>
                </a:solidFill>
                <a:latin typeface="Microsoft YaHei"/>
                <a:ea typeface="Microsoft YaHei"/>
              </a:rPr>
              <a:t xml:space="preserve"> AI</a:t>
            </a:r>
            <a:r>
              <a:rPr lang="zh-CN" sz="1800">
                <a:solidFill>
                  <a:srgbClr val="6B6660"/>
                </a:solidFill>
                <a:latin typeface="Microsoft YaHei"/>
                <a:ea typeface="Microsoft YaHei"/>
              </a:rPr>
              <a:t>；让它提示，别让它代写！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0" y="649605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580"/>
                </a:solidFill>
                <a:latin typeface="Microsoft YaHei"/>
                <a:ea typeface="Microsoft YaHei"/>
              </a:rPr>
              <a:t>我和</a:t>
            </a:r>
            <a:r>
              <a:rPr lang="en-US" sz="1050">
                <a:solidFill>
                  <a:srgbClr val="8A858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A8580"/>
                </a:solidFill>
                <a:latin typeface="Microsoft YaHei"/>
                <a:ea typeface="Microsoft YaHei"/>
              </a:rPr>
              <a:t>一起学数学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117348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580"/>
                </a:solidFill>
                <a:latin typeface="Microsoft YaHei"/>
                <a:ea typeface="Microsoft YaHei"/>
              </a:rPr>
              <a:t>14 / 15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00" name="" descr="&lt;Slide style={{ width: 1280, height: 720, background: '#FFF8F0', padding: 60, fontFamily: &quot;'Microsoft YaHei', sans-serif&quot;, position: 'relative' }}&gt;&#10;  {/* 背景装饰 */}&#10;  &lt;Box style={{ position: 'absolute', top: -70, left: -70, width: 240, height: 240, borderRadius: 120, background: '#FFC93C', opacity: 0.14 }} /&gt;&#10;  &lt;Box style={{ position: 'absolute', bottom: -80, right: -60, width: 260, height: 260, borderRadius: 130, background: '#2BB3A3', opacity: 0.12 }} /&gt;&#10;  &lt;Box style={{ flexDirection: 'row', alignItems: 'center', gap: 56, width: '100%', height: '100%' }}&gt;&#10;    &lt;Box style={{ width: 600 }}&gt;&#10;      &lt;Image src=&quot;assets/hero_end.png&quot; style={{ width: 600, height: 400, objectFit: 'cover', borderRadius: 28, boxShadow: '0 8px 32px rgba(51,48,46,0.18)' }} /&gt;&#10;    &lt;/Box&gt;&#10;    &lt;Box style={{ flex: 1, flexDirection: 'column', justifyContent: 'center', gap: 30 }}&gt;&#10;      &lt;Text style={{ fontSize: 54, fontWeight: 'bold', color: '#33302E', lineHeight: 1.3 }}&gt;&#10;        AI 是我的&lt;span style={{ color: '#F97316' }}&gt;学习小伙伴&lt;/span&gt;&#10;      &lt;/Text&gt;&#10;      &lt;Text style={{ fontSize: 30, color: '#33302E', lineHeight: 1.55 }}&gt;&#10;        它不替我思考，&lt;br /&gt;它让思考变得&lt;span style={{ fontWeight: 'bold', color: '#2BB3A3' }}&gt;好玩&lt;/span&gt;！&#10;      &lt;/Text&gt;&#10;      &lt;Text style={{ fontSize: 64, fontWeight: 'bold', backgroundImage: 'linear-gradient(135deg, #F97316 0%, #FFC93C 100%)', backgroundClip: 'text', color: 'transparent' }}&gt;&#10;        谢谢大家！&#10;      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p/>
        </p:txBody>
      </p:sp>
      <p:pic>
        <p:nvPicPr>
          <p:cNvPr id="102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571500" y="1524000"/>
            <a:ext cx="5715000" cy="3810000"/>
          </a:xfrm>
          <a:prstGeom prst="roundRect">
            <a:avLst>
              <a:gd name="adj" fmla="val 7000"/>
            </a:avLst>
          </a:prstGeom>
          <a:ln/>
          <a:effectLst>
            <a:outerShdw blurRad="304800" dist="76200" dir="5400000">
              <a:srgbClr val="33302E">
                <a:alpha val="18000"/>
              </a:srgbClr>
            </a:outerShdw>
          </a:effectLst>
        </p:spPr>
      </p:pic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819900" y="1438275"/>
            <a:ext cx="4800600" cy="1609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en-US" sz="4050" b="1">
                <a:solidFill>
                  <a:srgbClr val="33302E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4050" b="1">
                <a:solidFill>
                  <a:srgbClr val="33302E"/>
                </a:solidFill>
                <a:latin typeface="Microsoft YaHei"/>
                <a:ea typeface="Microsoft YaHei"/>
              </a:rPr>
              <a:t>是我的</a:t>
            </a:r>
            <a:r>
              <a:rPr lang="zh-CN" sz="4050" b="1">
                <a:solidFill>
                  <a:srgbClr val="F97316"/>
                </a:solidFill>
                <a:latin typeface="Microsoft YaHei"/>
                <a:ea typeface="Microsoft YaHei"/>
              </a:rPr>
              <a:t>学习小伙伴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6819900" y="3333750"/>
            <a:ext cx="4800600" cy="1066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2250">
                <a:solidFill>
                  <a:srgbClr val="33302E"/>
                </a:solidFill>
                <a:latin typeface="Microsoft YaHei"/>
                <a:ea typeface="Microsoft YaHei"/>
              </a:rPr>
              <a:t>它不替我思考，</a:t>
            </a:r>
            <a:endParaRPr/>
          </a:p>
          <a:p>
            <a:pPr>
              <a:lnSpc>
                <a:spcPct val="155000"/>
              </a:lnSpc>
            </a:pPr>
            <a:r>
              <a:rPr lang="zh-CN" sz="2250">
                <a:solidFill>
                  <a:srgbClr val="33302E"/>
                </a:solidFill>
                <a:latin typeface="Microsoft YaHei"/>
                <a:ea typeface="Microsoft YaHei"/>
              </a:rPr>
              <a:t>它让思考变得</a:t>
            </a:r>
            <a:r>
              <a:rPr lang="zh-CN" sz="2250" b="1">
                <a:solidFill>
                  <a:srgbClr val="2BB3A3"/>
                </a:solidFill>
                <a:latin typeface="Microsoft YaHei"/>
                <a:ea typeface="Microsoft YaHei"/>
              </a:rPr>
              <a:t>好玩</a:t>
            </a:r>
            <a:r>
              <a:rPr lang="zh-CN" sz="2250">
                <a:solidFill>
                  <a:srgbClr val="33302E"/>
                </a:solidFill>
                <a:latin typeface="Microsoft YaHei"/>
                <a:ea typeface="Microsoft YaHei"/>
              </a:rPr>
              <a:t>！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819900" y="4686300"/>
            <a:ext cx="48006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>
                <a:gradFill>
                  <a:gsLst>
                    <a:gs pos="0">
                      <a:srgbClr val="F97316"/>
                    </a:gs>
                    <a:gs pos="100000">
                      <a:srgbClr val="FFC93C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谢谢大家！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-666750" y="-666750"/>
            <a:ext cx="2286000" cy="2286000"/>
          </a:xfrm>
          <a:prstGeom prst="roundRect">
            <a:avLst>
              <a:gd name="adj" fmla="val 50000"/>
            </a:avLst>
          </a:prstGeom>
          <a:solidFill>
            <a:srgbClr val="FFC93C">
              <a:alpha val="14000"/>
            </a:srgbClr>
          </a:solidFill>
          <a:ln/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10287000" y="5143500"/>
            <a:ext cx="2476500" cy="2476500"/>
          </a:xfrm>
          <a:prstGeom prst="roundRect">
            <a:avLst>
              <a:gd name="adj" fmla="val 50000"/>
            </a:avLst>
          </a:prstGeom>
          <a:solidFill>
            <a:srgbClr val="2BB3A3">
              <a:alpha val="12000"/>
            </a:srgbClr>
          </a:solidFill>
          <a:ln/>
        </p:spPr>
        <p:txBody>
          <a:bodyPr/>
          <a:p/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2026-09-24T15:59:49Z</dcterms:created>
  <dcterms:modified xsi:type="dcterms:W3CDTF">2026-09-24T15:59:49Z</dcterms:modified>
</cp:coreProperties>
</file>